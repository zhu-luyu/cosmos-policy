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</p:spPr>
      </p:sp>
      <p:sp>
        <p:nvSpPr>
          <p:cNvPr id="4" name="Text 2"/>
          <p:cNvSpPr/>
          <p:nvPr/>
        </p:nvSpPr>
        <p:spPr>
          <a:xfrm>
            <a:off x="914400" y="1097280"/>
            <a:ext cx="100584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Cosmos Policy</a:t>
            </a:r>
            <a:endParaRPr lang="en-US" sz="4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Inference Pipeline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 Policy Inference Flow  |  RoboCasa Platform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4114800"/>
            <a:ext cx="91440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NVIDIA Cosmos Policy  —  Video Foundation Model for Robot Control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Each slide covers one module: Input -&gt; Function -&gt; Output -&gt; Code Location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5486400"/>
            <a:ext cx="114300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5486400"/>
            <a:ext cx="1143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94560" y="548640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77440" y="5486400"/>
            <a:ext cx="114300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5486400"/>
            <a:ext cx="1143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Tokenize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0" y="548640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0" y="5486400"/>
            <a:ext cx="114300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5486400"/>
            <a:ext cx="1143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0" y="548640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5486400"/>
            <a:ext cx="114300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5486400"/>
            <a:ext cx="1143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Noise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35040" y="548640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5486400"/>
            <a:ext cx="114300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5486400"/>
            <a:ext cx="1143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0" y="548640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0" y="5486400"/>
            <a:ext cx="114300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5486400"/>
            <a:ext cx="1143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Denoise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595360" y="548640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778240" y="5486400"/>
            <a:ext cx="114300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0" y="5486400"/>
            <a:ext cx="1143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875520" y="548640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058400" y="5486400"/>
            <a:ext cx="114300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0" y="5486400"/>
            <a:ext cx="1143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4320" y="64465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 Policy Inference Pipeline — RoboCasa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20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8A6FF"/>
          </a:solidFill>
        </p:spPr>
      </p:sp>
      <p:sp>
        <p:nvSpPr>
          <p:cNvPr id="3" name="Shape 1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流水线总览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64465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 Policy Inference Pipeline — RoboCasa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1143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80160"/>
            <a:ext cx="1143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Observation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71600" y="1280160"/>
            <a:ext cx="320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508760" y="1280160"/>
            <a:ext cx="1143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4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1280160"/>
            <a:ext cx="1143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6D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VAE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6D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06040" y="1280160"/>
            <a:ext cx="320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0" y="1280160"/>
            <a:ext cx="1143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1280160"/>
            <a:ext cx="1143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Latent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40480" y="1280160"/>
            <a:ext cx="320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77640" y="1280160"/>
            <a:ext cx="1143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77640" y="1280160"/>
            <a:ext cx="1143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Condition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74920" y="1280160"/>
            <a:ext cx="320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212080" y="1280160"/>
            <a:ext cx="1143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1280160"/>
            <a:ext cx="1143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Text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09360" y="1280160"/>
            <a:ext cx="320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46520" y="1280160"/>
            <a:ext cx="1143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1280160"/>
            <a:ext cx="1143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Noise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543800" y="1280160"/>
            <a:ext cx="320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80960" y="1280160"/>
            <a:ext cx="1143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1280160"/>
            <a:ext cx="1143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DiT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Denoise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778240" y="1280160"/>
            <a:ext cx="320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915400" y="1280160"/>
            <a:ext cx="1143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15400" y="1280160"/>
            <a:ext cx="1143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EDM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Precond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012680" y="1280160"/>
            <a:ext cx="320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149840" y="1280160"/>
            <a:ext cx="1143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4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49840" y="1280160"/>
            <a:ext cx="1143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6D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 Iterative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6D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2743200"/>
            <a:ext cx="1143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743200"/>
            <a:ext cx="1143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 VAE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371600" y="2743200"/>
            <a:ext cx="320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508760" y="2743200"/>
            <a:ext cx="1143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08760" y="2743200"/>
            <a:ext cx="1143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 Action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606040" y="2743200"/>
            <a:ext cx="320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743200" y="2743200"/>
            <a:ext cx="1143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0" y="2743200"/>
            <a:ext cx="1143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 Proprio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840480" y="2743200"/>
            <a:ext cx="320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977640" y="2743200"/>
            <a:ext cx="1143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77640" y="2743200"/>
            <a:ext cx="1143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 Robot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74920" y="2743200"/>
            <a:ext cx="320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212080" y="2743200"/>
            <a:ext cx="1143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2080" y="2743200"/>
            <a:ext cx="1143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 Open-Loop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309360" y="2743200"/>
            <a:ext cx="320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446520" y="2743200"/>
            <a:ext cx="1143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46520" y="2743200"/>
            <a:ext cx="1143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15. Best-of-N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Planning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543800" y="2743200"/>
            <a:ext cx="320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7680960" y="2743200"/>
            <a:ext cx="1143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80960" y="2743200"/>
            <a:ext cx="1143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16. Value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778240" y="2743200"/>
            <a:ext cx="320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915400" y="2743200"/>
            <a:ext cx="1143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4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15400" y="2743200"/>
            <a:ext cx="1143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6D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17. Multi-View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6D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Fusion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012680" y="2743200"/>
            <a:ext cx="320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10149840" y="2743200"/>
            <a:ext cx="1143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149840" y="2743200"/>
            <a:ext cx="1143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 Training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Inference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57200" y="4023360"/>
            <a:ext cx="11247120" cy="118872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4360" y="406908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94360" y="4315968"/>
            <a:ext cx="1097280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RoboCasa Config: state_t=11 observation frames, chunk_size=32 action steps, action_dim=7, proprio_dim=9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camera views (agentview, eye_in_hand, robot0_robotface). Total latent frames = 11 video + 8 action + 2 proprio = 21 frames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latent frame shape: (1, 16, 28, 28) for 224x224 input with 8x spatial compression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" y="5486400"/>
            <a:ext cx="11247120" cy="502920"/>
          </a:xfrm>
          <a:prstGeom prst="rect">
            <a:avLst/>
          </a:prstGeom>
          <a:solidFill>
            <a:srgbClr val="1A1E24"/>
          </a:solidFill>
          <a:ln w="6350">
            <a:solidFill>
              <a:srgbClr val="FFA65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4360" y="548640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</a:t>
            </a: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cosmos_policy/constants.py  |  cosmos_policy/experiments/robot/cosmos_utils.py:61-85  |  cosmos_policy/config/experiment/cosmos_policy_experiment_configs.py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FB950"/>
          </a:solidFill>
        </p:spPr>
      </p:sp>
      <p:sp>
        <p:nvSpPr>
          <p:cNvPr id="3" name="Shape 1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1: 观测数据收集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 Data Collection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64465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 Policy Inference Pipeline — RoboCasa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55040"/>
            <a:ext cx="11247120" cy="114808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83615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⬅ INPUT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16001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sensor data from RoboCasa simulation environment: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- 3x camera images: (B, 3, 224, 224) each [agentview, eye_in_hand, robotface]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Proprioceptive state: (B, 9) [joint pos(7) + gripper(2)]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Task language instruction: string, e.g. 'pick up the red block'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1124712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860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FUNCTION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532888"/>
            <a:ext cx="109728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 multi-modal observations from the robot environment.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Capture RGB images from 3 calibrated cameras at 224x224 resolution.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Read robot joint positions (7-DOF) + gripper state (2 values) = 9-dim proprio.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Receive natural language task description.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Stack history: state_t=11 frames of observation history.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Images normalized to [-1, 1] range, proprio normalized per-dimension.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1247120" cy="103505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44925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➡ OUTPUT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3992753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Processed observation tensors: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images_list: List[Tensor] of length 3, each (B, 3, 224, 224)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proprio: (B, 9) normalized joint + gripper state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task_text: str, language instruction for the episode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933315"/>
            <a:ext cx="11247120" cy="64008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93776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FORMAT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5126863"/>
            <a:ext cx="109728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RoboCasa dataset: HDF5 format with observations/qpos/gripper_state/actions fields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state_t=11 means 11 frames of history are stacked as context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1A1E24"/>
          </a:solidFill>
          <a:ln w="6350">
            <a:solidFill>
              <a:srgbClr val="FFA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</a:t>
            </a: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cosmos_policy/experiments/robot/cosmos_utils.py:851 get_action()  |  cosmos_policy/experiments/robot/cosmos_utils.py: prepare_data_batch()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6D4DD"/>
          </a:solidFill>
        </p:spPr>
      </p:sp>
      <p:sp>
        <p:nvSpPr>
          <p:cNvPr id="3" name="Shape 1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2: VAE 编码器 (视频分词)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D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WAN 2.1 VAE Encoder — Video Tokenization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64465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 Policy Inference Pipeline — RoboCasa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14425"/>
            <a:ext cx="11247120" cy="103505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60145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⬅ INPUT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31622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video frames: (B, 3, T, H, W)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For each camera view: (B, 3, state_t=11, 224, 224)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Pixel range: [-1, 1] (normalized)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- 3 independent camera streams encoded separately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11247120" cy="152019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6949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FUNCTION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433828"/>
            <a:ext cx="109728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WAN 2.1 Video VAE Encoder compresses pixel-space video to compact latent space.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Spatial: 8x downsample via 2D convolutions (224-&gt;112-&gt;56-&gt;28).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Temporal: 4x downsample via 3D causal convolutions (groups of 4 frames).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Channel: 3 (RGB) -&gt; 16 (latent channels).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KL regularization keeps latents in a well-behaved distribution for diffusion.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Each camera view is independently encoded.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state_t=11 frames -&gt; ceil(11/4)=3 temporal latent frames per view.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862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➡ OUTPUT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4058793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Latent representations: (B, z_dim=16, T', H', W')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Per camera: (B, 16, 3, 28, 28)  [T'=11/4=2.75 -&gt; padded to 3 temporal frames]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Spatial compression: 224/8 = 28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Temporal compression: 4x (4 pixel frames -&gt; 1 latent frame)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Latent space: continuous, learned by KL-regularized VAE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892040"/>
            <a:ext cx="1124712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93776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COMPRESSION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5184648"/>
            <a:ext cx="10972800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compression ratio: 8x spatial * 4x temporal = 32x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224x224 RGB frame -&gt; 1x28x28x16 latent = 12,544 values (vs 150,528 pixels)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1A1E24"/>
          </a:solidFill>
          <a:ln w="6350">
            <a:solidFill>
              <a:srgbClr val="FFA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</a:t>
            </a: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cosmos_policy/tokenizers/wan2pt1.py:197 class CosmosPolicyWanVAE  |  :303 encode()  |  :44 class WanVAE_  |  :51 encode()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2A8FF"/>
          </a:solidFill>
        </p:spPr>
      </p:sp>
      <p:sp>
        <p:nvSpPr>
          <p:cNvPr id="3" name="Shape 1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3: 隐帧布局 (隐变量帧注入)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Latent Frame Injection &amp; Sequence Layout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64465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 Policy Inference Pipeline — RoboCasa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144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⬅ INPUT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067943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 latents + Action/Proprio/Value metadata: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- 3x camera latents: each (B, 16, 3, 28, 28)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Action chunk: (B, 32, 7) = 224 values, all zeros at inference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Proprio state: (B, 9) values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Value placeholder: scalar (for planning mode)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1124712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27885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FUNCTION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85470" y="2331593"/>
            <a:ext cx="109728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Innovation: Encode all modalities into a UNIFIED latent frame sequence.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Action Latent Injection: 224 action values (32x7) repeat-filled into 8 latent frames.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Each frame has 16*28*28=12,544 slots, first 224/8=28 values set per frame (repeat padding).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Proprio Injection: 9 values repeat-filled into 2 latent frames similarly.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Temporal duplication: WAN VAE maps 4 pixel frames -&gt; 1 latent frame, so each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concept needs 4 identical images to produce 1 latent frame (handled in training).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At inference: action/proprio frames initialized as NOISE (to be denoised).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470" y="3598545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➡ OUTPUT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85470" y="3694303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latent sequence: (B, 16, total_frames, 28, 28)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RoboCasa layout (21 frames total):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Frame 0-2: camera1 latents (3 frames)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Frame 3-4: camera2 latents (2 frames)  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Frame 5-6: camera3 latents (2 frames)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Frame 7-14: action latents (8 frames, 32 steps * 7 dims mapped)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Frame 15-16: proprio latents (2 frames, 9 dims mapped)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Frame 17-20: future state prediction (4 frames)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5123815"/>
            <a:ext cx="11247120" cy="64008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5069205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5184648"/>
            <a:ext cx="109728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Treats robot actions as 'fake video frames' - same diffusion process denoises video AND predicts actions.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the core insight: unified multimodal generation via shared latent space.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1A1E24"/>
          </a:solidFill>
          <a:ln w="6350">
            <a:solidFill>
              <a:srgbClr val="FFA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</a:t>
            </a: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cosmos_policy/models/policy_text2world_model.py:45 replace_latent_with_action_chunk()  |  :112 replace_latent_with_proprio()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7B72"/>
          </a:solidFill>
        </p:spPr>
      </p:sp>
      <p:sp>
        <p:nvSpPr>
          <p:cNvPr id="3" name="Shape 1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4: 条件掩码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 Mask — Clean vs. Denoise Frames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64465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 Policy Inference Pipeline — RoboCasa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3444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⬅ INPUT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39877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latent sequence: (B, 16, 21, 28, 28)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Video observation frames: known/clean (encoded from real observations)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Action/proprio/future frames: unknown at inference (need denoising)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1124712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1996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FUNCTION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310003"/>
            <a:ext cx="109728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 mask that tells the model which frames are 'given' vs 'to predict'.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Observation frames (mask=1): These are CLEAN latents from VAE encoder.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During diffusion, noise is NOT added to these frames.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Action/Proprio/Future frames (mask=0): These are TARGETS for denoising.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During training, noise IS added; model learns to denoise them.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At inference: observation frames stay fixed, action frames start from pure noise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and are iteratively denoised to produce action predictions.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Enables flexible conditioning: different frame types can be clean or noisy.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862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➡ OUTPUT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413308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 condition mask: (B, 1, 21, 28, 28) or (21,) broadcast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mask=1 for clean observation frames (frames 0-6: camera latents)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mask=0 for denoising target frames (frames 7-20: action/proprio/future)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Controls which frames are kept fixed vs. predicted by diffusion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1A1E24"/>
          </a:solidFill>
          <a:ln w="6350">
            <a:solidFill>
              <a:srgbClr val="FFA6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</a:t>
            </a: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cosmos_policy/models/policy_video2world_model.py:100 get_data_and_condition()  |  cosmos_policy/models/policy_text2world_model.py:246 compute_loss_with_epsilon_and_sigma()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8A6FF"/>
          </a:solidFill>
        </p:spPr>
      </p:sp>
      <p:sp>
        <p:nvSpPr>
          <p:cNvPr id="3" name="Shape 1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5: 文本条件编码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Condition — Language Instruction Embedding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64465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 Policy Inference Pipeline — RoboCasa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3444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⬅ INPUT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390523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instruction string: e.g. 'pick up the red block and place it on the green target'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Raw text from the RoboCasa task specification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Single instruction per episode (same for all frames in sequence)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1124712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860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FUNCTION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351278"/>
            <a:ext cx="109728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 language instruction into dense embeddings for cross-attention.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Tokenize instruction with T5 tokenizer.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Pass through frozen T5-XXL encoder (4.6B parameters).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Project to cross-attention dimension (1024).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GeneralConditioner handles dropout (classifier-free guidance training).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At inference: dropout=0, always condition on text.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For video-conditioned models: Text2WorldCondition extends BaseCondition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to include video conditioning context alongside text.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862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➡ OUTPUT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398449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Cross-attention embedding: (B, seq_len, crossattn_dim)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seq_len ~20-77 tokens (T5 tokenizer output)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crossattn_dim = 1024 (matches DiT hidden dimension)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Used in every cross-attention layer of the DiT network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892040"/>
            <a:ext cx="1124712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93776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5060823"/>
            <a:ext cx="10972800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Classifier-Free Guidance: During training, text is randomly dropped (10-20%).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inference, guidance_scale controls strength of text conditioning: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predicted = uncond + scale * (cond - uncond)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1A1E24"/>
          </a:solidFill>
          <a:ln w="6350">
            <a:solidFill>
              <a:srgbClr val="FFA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</a:t>
            </a: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cosmos_policy/conditioner.py:86 class Text2WorldCondition  |  :112 class GeneralConditioner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A657"/>
          </a:solidFill>
        </p:spPr>
      </p:sp>
      <p:sp>
        <p:nvSpPr>
          <p:cNvPr id="3" name="Shape 1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6: 噪声调度 (训练)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 EDM SDE — Noise Schedule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64465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 Policy Inference Pipeline — RoboCasa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3444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⬅ INPUT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48132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 latent x_0: (B, 16, 21, 28, 28)  [only denoise-target frames matter]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For training: select noise level sigma from hybrid distribution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1124712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860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FUNCTION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532888"/>
            <a:ext cx="109728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 EDM noise schedule for training stability.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70% probability: Sample sigma from log-normal distribution N(P_mean, P_std^2).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log(sigma) ~ N(-1.2, 1.2^2). Favors moderate noise levels.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30% probability: Sample sigma uniformly from [sigma_min, sigma_max].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Ensures coverage of extreme noise levels.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At inference: sigma follows deterministic schedule from sigma_max to sigma_min.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EDM preconditioning scales the network input/output: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c_skip(sigma), c_out(sigma), c_in(sigma), c_noise(sigma) functions.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862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➡ OUTPUT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413308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Noisy latent x_sigma = x_0 + sigma * epsilon: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(B, 16, 21, 28, 28)  [epsilon ~ N(0, I)]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sigma value sampled per batch from hybrid distribution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Only mask=0 frames get noise added; mask=1 frames stay clean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892040"/>
            <a:ext cx="11247120" cy="64008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93776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EDM PRECOND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5184648"/>
            <a:ext cx="109728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F_denoise(x, sigma) = c_skip * x + c_out * Net(c_in * x, c_noise(sigma))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c_in = 1/(sigma^2+1)^0.5 | c_out = sigma/(sigma^2+1)^0.5 | c_skip = 1 | c_noise = 0.25*log(sigma)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1A1E24"/>
          </a:solidFill>
          <a:ln w="6350">
            <a:solidFill>
              <a:srgbClr val="FFA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</a:t>
            </a: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cosmos_policy/modules/hybrid_edm_sde.py:22 class HybridEDMSDE  |  :48 sample_t()  |  EDM formulas in MODEL_DESIGN.md section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EC7"/>
          </a:solidFill>
        </p:spPr>
      </p:sp>
      <p:sp>
        <p:nvSpPr>
          <p:cNvPr id="3" name="Shape 1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7: DiT 网络 (扩散 Transformer)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Diffusion Transformer (DiT) — Core Denoising Network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64465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 Policy Inference Pipeline — RoboCasa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3444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⬅ INPUT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48132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Noisy latent: (B, 16, 21, 28, 28) scaled by c_in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Timestep embedding: sigma -&gt; c_noise -&gt; sinusoidal embedding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Cross-attention context: (B, token_len, 1024) from text encoder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Condition mask: (B, 1, 21, 28, 28)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1124712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860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FUNCTION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532888"/>
            <a:ext cx="109728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2B-parameter Diffusion Transformer with self-attention + cross-attention.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Patch embedding: Flatten (16, 28, 28) spatial -&gt; sequence of patch tokens.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Positional encoding: 3D RoPE (spatial + temporal position).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28 DiT blocks, each containing: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AdaLN (Adaptive Layer Norm): conditioned on timestep sigma.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Self-Attention: attend across all frame positions (temporal + spatial).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Cross-Attention: attend to text embedding from T5.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Feed-Forward: GPT-2 style MLP with GELU.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FinalLayer: Linear projection back to (16, 28, 28) per frame.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2B total parameters, bf16 mixed precision.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862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➡ OUTPUT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413308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Denoised prediction F_theta: (B, 16, 21, 28, 28)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After EDM output scaling: x_hat = c_skip * x_noisy + c_out * F_theta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Only mask=0 frames carry meaningful predictions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892040"/>
            <a:ext cx="1124712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93776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6D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5184648"/>
            <a:ext cx="10972800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(B, 16, T=21, 28, 28) -&gt; PatchEmbed -&gt; T*784 tokens of dim 1024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28x DiT blocks (SelfAttn + CrossAttn + FFN) -&gt; FinalLayer -&gt; (B, 16, T, 28, 28)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1A1E24"/>
          </a:solidFill>
          <a:ln w="6350">
            <a:solidFill>
              <a:srgbClr val="FFA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</a:t>
            </a: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cosmos_policy/_src/predict2/networks/minimal_v4_dit.py:1386 class MiniTrainDIT  |  :1713 forward()  |  :389 class Attention  |  :583 class I2VCrossAttention  |  :1049 class FinalLayer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FB950"/>
          </a:solidFill>
        </p:spPr>
      </p:sp>
      <p:sp>
        <p:nvSpPr>
          <p:cNvPr id="3" name="Shape 1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8: EDM 预处理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EDM Preconditioning — Input/Output Scaling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64465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 Policy Inference Pipeline — RoboCasa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3444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⬅ INPUT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48132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noisy latent x_sigma: (B, 16, 21, 28, 28)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sigma value: scalar or (B,) tensor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Network raw output F_theta: (B, 16, 21, 28, 28) from DiT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1124712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860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FUNCTION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532888"/>
            <a:ext cx="109728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EDM (Elucidating Design Space) preconditioning stabilizes diffusion training.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Mathematical formulation: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scaling:  c_in(sigma) = 1 / sqrt(sigma^2 + 1)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scaling: c_out(sigma) = sigma / sqrt(sigma^2 + 1)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Skip scaling:   c_skip(sigma) = 1 (unit skip connection)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Noise mapping:  c_noise(sigma) = 0.25 * ln(sigma)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sees unit-variance input. Output combines skip (preserves signal)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network prediction (adds correction). Key insight: as sigma-&gt;0,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c_out-&gt;0 so output approaches clean x_0 naturally.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862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➡ OUTPUT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413308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Preprocessed input to DiT: c_in(sigma) * x_sigma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denoised estimate: c_skip(sigma) * x_sigma + c_out(sigma) * F_theta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x_0 estimate: (B, 16, 21, 28, 28) with clean observation frames untouched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1A1E24"/>
          </a:solidFill>
          <a:ln w="6350">
            <a:solidFill>
              <a:srgbClr val="FFA6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</a:t>
            </a: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cosmos_policy/models/policy_text2world_model.py:310 compute_loss_with_epsilon_and_sigma()  |  cosmos_policy/_src/predict2/networks/minimal_v4_dit.py:860 Timesteps embed  |  :884 TimestepEmbedding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6D4DD"/>
          </a:solidFill>
        </p:spPr>
      </p:sp>
      <p:sp>
        <p:nvSpPr>
          <p:cNvPr id="3" name="Shape 1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9: 迭代采样 (去噪循环)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D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Iterative Denoising Loop — CosmosPolicySampler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64465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 Policy Inference Pipeline — RoboCasa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3444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⬅ INPUT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48132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Pure noise x_T: (B, 16, 21, 28, 28) at sigma_max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Only mask=0 frames are noise; mask=1 frames are clean obs latents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num_steps: number of denoising steps (e.g. 35 for RoboCasa)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1124712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860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FUNCTION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532888"/>
            <a:ext cx="109728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Iterative denoising from pure noise to clean latent prediction.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Initialize mask=0 frames with noise at sigma_max (mask=1 frames stay clean).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For each step t = T, T-1, ..., 1: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a. Compute current sigma_t and next sigma_{t-1}.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b. Get x_0 prediction from denoise function (EDM + DiT).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c. Apply deterministic ODE step: x_{t-1} = x_t + (sigma_{t-1} - sigma_t) * score.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d. Special case: num_steps=1 -&gt; directly use x_0 prediction (single step).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Final output: fully denoised latent sequence.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CosmosPolicySampler supports sample_clean=True for mask-aware sampling.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862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➡ OUTPUT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413308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Denoised x_0: (B, 16, 21, 28, 28)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mask=0 frames now contain predicted action/proprio/future latents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mask=1 observation frames unchanged throughout sampling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892040"/>
            <a:ext cx="11247120" cy="54864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93776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5184648"/>
            <a:ext cx="10972800" cy="182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Sigma schedule: geometric progression from sigma_max (~80) to sigma_min (~0.002)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ODE solver: Euler or RK4. Default: Euler with 35 steps for RoboCasa inference.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1A1E24"/>
          </a:solidFill>
          <a:ln w="6350">
            <a:solidFill>
              <a:srgbClr val="FFA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</a:t>
            </a: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cosmos_policy/modules/cosmos_sampler.py:40 class CosmosPolicySampler  |  :96 _forward_impl()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FB950"/>
          </a:solidFill>
        </p:spPr>
      </p:sp>
      <p:sp>
        <p:nvSpPr>
          <p:cNvPr id="3" name="Shape 1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10: VAE 解码器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WAN 2.1 VAE Decoder — Latent to Pixel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64465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 Policy Inference Pipeline — RoboCasa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3444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⬅ INPUT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48132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Denoised latent sequence: (B, 16, 21, 28, 28)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Only action/proprio/future frames need decoding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In practice: decode ALL frames, then extract action channels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1124712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860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FUNCTION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532888"/>
            <a:ext cx="109728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WAN 2.1 VAE Decoder reconstructs pixel video from latents.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Temporal upsampling: T' -&gt; T'*4 (inverse of 4x temporal compression).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Spatial upsampling: 28 -&gt; 224 (inverse of 8x spatial compression).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Channel projection: 16 -&gt; 3 (latent -&gt; RGB).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Uses 3D transposed convolutions for spatiotemporal upsampling.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IMPORTANT: For action extraction, we do NOT decode to pixels.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 are read directly from latent frames (next module).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VAE decode is optional and mainly for debugging/visualization.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862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➡ OUTPUT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413308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Decoded pixel-space video: (B, 3, T'*4, H*8, W*8)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Per action frames: (B, 3, 32, 224, 224) — but NOT used for action extraction!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Action values are extracted DIRECTLY from latent, not decoded pixels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VAE decode is only used for visualization/verification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892040"/>
            <a:ext cx="11247120" cy="54864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93776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5184648"/>
            <a:ext cx="10972800" cy="182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 live in LATENT space, not pixel space.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'fake video frame' trick means actions are stored as latent values,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rendered as pixels. Decoding is unnecessary for robot control.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1A1E24"/>
          </a:solidFill>
          <a:ln w="6350">
            <a:solidFill>
              <a:srgbClr val="FFA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</a:t>
            </a: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cosmos_policy/tokenizers/wan2pt1.py:341 decode()  |  :197 class CosmosPolicyWanVAE  |  :518 decode() (state encoder)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7B72"/>
          </a:solidFill>
        </p:spPr>
      </p:sp>
      <p:sp>
        <p:nvSpPr>
          <p:cNvPr id="3" name="Shape 1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11: 动作提取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Extraction from Latent Frames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64465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 Policy Inference Pipeline — RoboCasa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3444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⬅ INPUT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48132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Denoised latent sequence: (B, 16, 21, 28, 28)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Action latent frames at indices 7-14 (8 frames for RoboCasa)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Each frame: 16 * 28 * 28 = 12,544 values per frame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1124712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860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FUNCTION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532888"/>
            <a:ext cx="109728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 the latent injection process to recover action values.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Select action latent frames by their indices in the sequence.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For each action frame: flatten (16, 28, 28) -&gt; 12,544 values.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Take the first 28 values per frame (224 total / 8 frames = 28).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Reshape to (chunk_size=32, action_dim=7).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De-normalize: multiply by action_std, add action_mean.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Clamp to valid robot command range.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the INVERSE of replace_latent_with_action_chunk().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862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➡ OUTPUT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413308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chunk: (B, chunk_size=32, action_dim=7)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- 32 action steps, each with 7 DoF (x,y,z,rx,ry,rz,gripper)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Total 224 values extracted from 8 latent frames (28 values per frame)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Values are de-normalized to robot command range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1A1E24"/>
          </a:solidFill>
          <a:ln w="6350">
            <a:solidFill>
              <a:srgbClr val="FFA6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</a:t>
            </a: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cosmos_policy/models/policy_text2world_model.py:45 replace_latent_with_action_chunk()  |  cosmos_policy/experiments/robot/cosmos_utils.py:851 get_action()  |  :61 get_latent_indices_from_model_config()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2A8FF"/>
          </a:solidFill>
        </p:spPr>
      </p:sp>
      <p:sp>
        <p:nvSpPr>
          <p:cNvPr id="3" name="Shape 1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12: 本体感知提取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Proprioceptive State Extraction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64465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 Policy Inference Pipeline — RoboCasa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3444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⬅ INPUT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48132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Denoised latent sequence: (B, 16, 21, 28, 28)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Proprio latent frames at indices 15-16 (2 frames for RoboCasa)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Each frame: 12,544 values, but only first ~5 values used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1124712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860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FUNCTION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532888"/>
            <a:ext cx="109728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 proprioceptive predictions from latent frames (same as action).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Select proprio latent frames by their indices.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Flatten each frame, take first ~5 values per frame.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Reshape to proprio_dim=9.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De-normalize to physical joint/gripper range.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The model predicts FUTURE proprio as a side effect of denoising.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Note: Proprio prediction is auxiliary — main output is the action chunk.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 it helps the model maintain temporal consistency.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862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➡ OUTPUT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413308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Predicted proprio: (B, 2, proprio_dim=9) or (B, 9)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Predicted future proprioceptive state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Can be used for planning or state prediction validation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- 9 values: 7 joint positions + 2 gripper states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1A1E24"/>
          </a:solidFill>
          <a:ln w="6350">
            <a:solidFill>
              <a:srgbClr val="FFA6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</a:t>
            </a: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cosmos_policy/models/policy_text2world_model.py:112 replace_latent_with_proprio()  |  cosmos_policy/experiments/robot/cosmos_utils.py:61 get_latent_indices_from_model_config()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A657"/>
          </a:solidFill>
        </p:spPr>
      </p:sp>
      <p:sp>
        <p:nvSpPr>
          <p:cNvPr id="3" name="Shape 1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13: 机器人执行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Robot Action Execution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64465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 Policy Inference Pipeline — RoboCasa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3444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⬅ INPUT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48132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chunk: (B, 32, 7) — 32 action steps, 7 DoF each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Absolute joint positions for 7-DOF robot arm + gripper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De-normalized to robot's joint command range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Predicted in open-loop fashion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1124712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860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FUNCTION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532888"/>
            <a:ext cx="109728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 predicted action chunk to robot joint commands.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Action space: absolute joint positions (not delta actions).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De-normalize: action_raw * action_std + action_mean.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Clamp to joint limits.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Send to low-level PD controller at control frequency.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Gripper command: continuous value mapped to open/close.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action chunk provides 32 steps of future control,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 only a subset is executed (see Open-Loop Control slide).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862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➡ OUTPUT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413308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Joint commands sent to robot controller: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- 7-DOF joint position targets per timestep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Executed at control frequency (e.g., 20Hz)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Only first `execute_steps` actions are actually executed before re-planning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1A1E24"/>
          </a:solidFill>
          <a:ln w="6350">
            <a:solidFill>
              <a:srgbClr val="FFA6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</a:t>
            </a: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cosmos_policy/experiments/robot/cosmos_utils.py:851 get_action()  |  RoboCasa environment wrapper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8A6FF"/>
          </a:solidFill>
        </p:spPr>
      </p:sp>
      <p:sp>
        <p:nvSpPr>
          <p:cNvPr id="3" name="Shape 1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14: 开环控制策略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Open-Loop Control Strategy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64465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 Policy Inference Pipeline — RoboCasa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3444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⬅ INPUT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48132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Predicted action chunk: (32, 7) — full trajectory prediction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- 32 steps of future control predicted in one forward pass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Only a subset will be executed before re-querying the model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1124712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860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FUNCTION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532888"/>
            <a:ext cx="109728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 action chunking with partial execution.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Model predicts chunk_size=32 future action steps in ONE forward pass.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Only the first `execute_steps` (e.g., 4 or 8) are actually executed.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After execution, new observation is collected.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Model is re-queried with updated observation history.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Benefits: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Reduces inference frequency (every 4-8 steps instead of every step).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Provides temporal consistency within the chunk.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Allows course-correction at each re-query.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Trade-off: more execute_steps = faster but less reactive.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862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➡ OUTPUT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413308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Executed actions: (execute_steps, 7) — typically 4-8 steps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First `execute_steps` actions from the chunk are executed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Then a new observation is taken and model is re-queried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Remaining actions in the chunk are DISCARDED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892040"/>
            <a:ext cx="11247120" cy="54864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93776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TRADE-OFF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5184648"/>
            <a:ext cx="10972800" cy="182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execute_steps=4: More reactive, higher inference cost, smoother corrections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execute_steps=8: Less reactive, lower inference cost, more committed to plan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RoboCasa default: typically 4-8 steps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1A1E24"/>
          </a:solidFill>
          <a:ln w="6350">
            <a:solidFill>
              <a:srgbClr val="FFA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</a:t>
            </a: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cosmos_policy/experiments/robot/cosmos_utils.py:851 get_action()  |  experiment configs: execute_steps parameter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EC7"/>
          </a:solidFill>
        </p:spPr>
      </p:sp>
      <p:sp>
        <p:nvSpPr>
          <p:cNvPr id="3" name="Shape 1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15: Best-of-N 规划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Best-of-N Planning — Action Selection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64465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 Policy Inference Pipeline — RoboCasa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3444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⬅ INPUT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48132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candidate action chunks: N x (32, 7)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Generated by running N independent denoising passes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Each starts from different random noise -&gt; different action proposals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Typically N=4 or N=8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1124712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860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FUNCTION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532888"/>
            <a:ext cx="109728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multiple action candidates, rank by predicted value.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Run denoising N times independently (different noise seeds).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For each candidate: predict its expected return using value head.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Select the candidate with highest predicted value.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This is a simple but effective test-time compute scaling method.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More candidates = better selection but more inference time.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Analogous to 'sample-and-rank' in language models.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the PLANNING variant. For direct policy (no planning), N=1.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862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➡ OUTPUT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413308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action chunk: (32, 7)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Selected from N candidates based on value prediction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The candidate with highest predicted value is chosen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Remaining N-1 candidates are discarded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892040"/>
            <a:ext cx="11247120" cy="54864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93776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HEAD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5184648"/>
            <a:ext cx="10972800" cy="182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model also predicts a VALUE latent frame (1 scalar).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value predicts the expected return for the given action sequence.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as a scoring function for Best-of-N selection.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1A1E24"/>
          </a:solidFill>
          <a:ln w="6350">
            <a:solidFill>
              <a:srgbClr val="FFA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</a:t>
            </a: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cosmos_policy/models/policy_video2world_model.py:569 get_x0_fn_from_batch()  |  cosmos_policy/experiments/robot/cosmos_utils.py:851 get_action()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7B72"/>
          </a:solidFill>
        </p:spPr>
      </p:sp>
      <p:sp>
        <p:nvSpPr>
          <p:cNvPr id="3" name="Shape 1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16: 价值预测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Function Prediction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64465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 Policy Inference Pipeline — RoboCasa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3444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⬅ INPUT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48132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Denoised latent sequence: (B, 16, 21, 28, 28)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Contains a value latent frame at a specific index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Value is encoded as a scalar in one latent frame (similar to action/proprio)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1124712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860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FUNCTION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532888"/>
            <a:ext cx="109728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 the expected return of the proposed action trajectory.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 dedicated latent frame stores the value prediction.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Value is encoded similarly to action: scalar repeat-filled into latent frame.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After denoising, the value is extracted (inverse of injection).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Training: value_loss is masked separately from action_loss.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Can be disabled via mask_value_prediction_loss_for_policy_prediction.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The value prediction enables planning without a separate critic network.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862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➡ OUTPUT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413308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Predicted value: scalar (B, 1)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Estimated expected return for the predicted action trajectory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Used for ranking in Best-of-N planning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Higher value = better predicted outcome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1A1E24"/>
          </a:solidFill>
          <a:ln w="6350">
            <a:solidFill>
              <a:srgbClr val="FFA6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</a:t>
            </a: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cosmos_policy/models/policy_text2world_model.py:186-210 (value config fields)  |  cosmos_policy/models/policy_text2world_model.py:328 (value_function_return)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6D4DD"/>
          </a:solidFill>
        </p:spPr>
      </p:sp>
      <p:sp>
        <p:nvSpPr>
          <p:cNvPr id="3" name="Shape 1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17: 多视角融合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D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Multi-View Camera Fusion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64465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 Policy Inference Pipeline — RoboCasa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3444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⬅ INPUT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48132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independent camera streams, each encoded separately: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agentview: (B, 16, 3, 28, 28)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eye_in_hand: (B, 16, 2, 28, 28)  [2 temporal frames]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robotface: (B, 16, 2, 28, 28)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Each captures different spatial information about the scene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1124712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860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FUNCTION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532888"/>
            <a:ext cx="109728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Fuse multiple camera views into a single latent sequence.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Each camera view is independently VAE-encoded.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All camera latents are concatenated along the temporal axis.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The DiT's 3D RoPE positional encoding differentiates: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Spatial position within each view (28x28 grid).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Temporal position across frames.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No explicit view ID needed — position encoding is sufficient.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Self-attention across ALL frame tokens enables cross-view reasoning.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The model learns to correlate information across camera angles.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862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➡ OUTPUT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4133088"/>
            <a:ext cx="10972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Unified latent sequence: (B, 16, 7+, 28, 28)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All camera latents concatenated along temporal dimension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Positions: frames 0-2 (cam1), frames 3-4 (cam2), frames 5-6 (cam3)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Followed by action/proprio/future frames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- 3D RoPE positional encoding distinguishes each view's position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892040"/>
            <a:ext cx="1124712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93776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ROBOCASA VIEWS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5184648"/>
            <a:ext cx="10972800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agentview: overhead/front view of workspace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eye_in_hand: wrist-mounted camera on robot end-effector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robotface: side view capturing robot arm configuration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Different temporal lengths due to frame padding for 4x temporal compression.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1A1E24"/>
          </a:solidFill>
          <a:ln w="6350">
            <a:solidFill>
              <a:srgbClr val="FFA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</a:t>
            </a: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cosmos_policy/experiments/robot/cosmos_utils.py:61 get_latent_indices_from_model_config()  |  cosmos_policy/tokenizers/wan2pt1.py:303 encode() (per camera)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2A8FF"/>
          </a:solidFill>
        </p:spPr>
      </p:sp>
      <p:sp>
        <p:nvSpPr>
          <p:cNvPr id="3" name="Shape 1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18: 训练 vs 推理对比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 vs Inference Comparison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64465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 Policy Inference Pipeline — RoboCasa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5669280" cy="365760"/>
          </a:xfrm>
          <a:prstGeom prst="rect">
            <a:avLst/>
          </a:prstGeom>
          <a:solidFill>
            <a:srgbClr val="3FB950"/>
          </a:solidFill>
        </p:spPr>
      </p:sp>
      <p:sp>
        <p:nvSpPr>
          <p:cNvPr id="9" name="Text 7"/>
          <p:cNvSpPr/>
          <p:nvPr/>
        </p:nvSpPr>
        <p:spPr>
          <a:xfrm>
            <a:off x="274320" y="1188720"/>
            <a:ext cx="5669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Collect (obs, action, proprio, value) from expert demos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05740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VAE encode all observations -&gt; latents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Inject ground-truth action/proprio into latent frames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Create condition mask: obs=1, action/proprio=0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15468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Add noise to mask=0 frames: x_sigma = x_0 + sigma * eps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DiT predicts noise (or x_0) from noisy input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88620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Loss = MSE(predicted, target) on mask=0 frames only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25196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Hybrid EDM: 70% log-normal + 30% uniform sigma sampling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1188720"/>
            <a:ext cx="5669280" cy="365760"/>
          </a:xfrm>
          <a:prstGeom prst="rect">
            <a:avLst/>
          </a:prstGeom>
          <a:solidFill>
            <a:srgbClr val="FFA657"/>
          </a:solidFill>
        </p:spPr>
      </p:sp>
      <p:sp>
        <p:nvSpPr>
          <p:cNvPr id="19" name="Text 17"/>
          <p:cNvSpPr/>
          <p:nvPr/>
        </p:nvSpPr>
        <p:spPr>
          <a:xfrm>
            <a:off x="6217920" y="1188720"/>
            <a:ext cx="5669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169164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Collect current obs from robot sensors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205740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VAE encode observations -&gt; clean latents (mask=1)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0" y="242316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Initialize action/proprio frames as NOISE (mask=0)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278892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Iterative denoising loop (35 steps ODE solver)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315468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At each step: DiT predicts x_0 from noisy input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352044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ODE step updates noise toward clean prediction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388620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Final denoised latents contain predicted actions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425196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Extract action chunk, execute first N steps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846320"/>
            <a:ext cx="11247120" cy="1097280"/>
          </a:xfrm>
          <a:prstGeom prst="rect">
            <a:avLst/>
          </a:prstGeom>
          <a:solidFill>
            <a:srgbClr val="161B22"/>
          </a:solidFill>
          <a:ln w="6350">
            <a:solidFill>
              <a:srgbClr val="484F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89204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DIFFERENCES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4360" y="5138928"/>
            <a:ext cx="109728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Training: Ground-truth actions injected -&gt; model learns to DENOISE them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Inference: Action frames start as noise -&gt; model GENERATES them via iterative denoising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 loss: MSE on mask=0 frames only, with optional loss masking for action/value separation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Inference: No ground truth needed, purely generative prediction from observations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6126480"/>
            <a:ext cx="11247120" cy="502920"/>
          </a:xfrm>
          <a:prstGeom prst="rect">
            <a:avLst/>
          </a:prstGeom>
          <a:solidFill>
            <a:srgbClr val="1A1E24"/>
          </a:solidFill>
          <a:ln w="6350">
            <a:solidFill>
              <a:srgbClr val="FFA6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612648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</a:t>
            </a: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cosmos_policy/models/policy_text2world_model.py:310 compute_loss_with_epsilon_and_sigma()  |  :702 generate_samples_from_batch()  |  cosmos_policy/modules/cosmos_sampler.py:96 _forward_impl()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24869</Words>
  <Application>WPS 演示</Application>
  <PresentationFormat>On-screen Show (16:9)</PresentationFormat>
  <Paragraphs>855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3" baseType="lpstr">
      <vt:lpstr>Arial</vt:lpstr>
      <vt:lpstr>宋体</vt:lpstr>
      <vt:lpstr>Wingdings</vt:lpstr>
      <vt:lpstr>Segoe UI</vt:lpstr>
      <vt:lpstr>苹方-简</vt:lpstr>
      <vt:lpstr>Segoe UI</vt:lpstr>
      <vt:lpstr>Segoe UI</vt:lpstr>
      <vt:lpstr>Consolas</vt:lpstr>
      <vt:lpstr>Consolas</vt:lpstr>
      <vt:lpstr>Consolas</vt:lpstr>
      <vt:lpstr>微软雅黑</vt:lpstr>
      <vt:lpstr>微软雅黑</vt:lpstr>
      <vt:lpstr>微软雅黑</vt:lpstr>
      <vt:lpstr>汉仪旗黑</vt:lpstr>
      <vt:lpstr>Calibri</vt:lpstr>
      <vt:lpstr>Helvetica Neue</vt:lpstr>
      <vt:lpstr>宋体</vt:lpstr>
      <vt:lpstr>Arial Unicode MS</vt:lpstr>
      <vt:lpstr>等线</vt:lpstr>
      <vt:lpstr>汉仪中等线KW</vt:lpstr>
      <vt:lpstr>汉仪书宋二KW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Cosmos Policy 推理流水线详解 (RoboCasa)</dc:title>
  <dc:creator>Cosmos Policy Study</dc:creator>
  <dc:subject>PptxGenJS Presentation</dc:subject>
  <cp:lastModifiedBy>NeverFade</cp:lastModifiedBy>
  <cp:revision>3</cp:revision>
  <dcterms:created xsi:type="dcterms:W3CDTF">2026-04-14T06:11:30Z</dcterms:created>
  <dcterms:modified xsi:type="dcterms:W3CDTF">2026-04-14T06:11:30Z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2F845C440643FEF9C29DD7696AFC0C8A_42</vt:lpwstr>
  </property>
</Properties>
</file>