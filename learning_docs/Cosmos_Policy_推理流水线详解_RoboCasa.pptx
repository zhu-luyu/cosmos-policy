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4400" b="1">
                <a:solidFill>
                  <a:srgbClr val="F0F6FC"/>
                </a:solidFill>
                <a:latin typeface="Segoe UI"/>
              </a:defRPr>
            </a:pPr>
            <a:r>
              <a:t>Cosmos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4400" b="1">
                <a:solidFill>
                  <a:srgbClr val="F0F6FC"/>
                </a:solidFill>
                <a:latin typeface="微软雅黑"/>
              </a:defRPr>
            </a:pPr>
            <a:r>
              <a:t>推理流水线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800" b="0">
                <a:solidFill>
                  <a:srgbClr val="58A6FF"/>
                </a:solidFill>
                <a:latin typeface="微软雅黑"/>
              </a:defRPr>
            </a:pPr>
            <a:r>
              <a:t>直接策略推理流程  |  RoboCasa </a:t>
            </a:r>
            <a:r>
              <a:rPr lang="zh-CN"/>
              <a:t>数据集</a:t>
            </a:r>
            <a:endParaRPr lang="zh-CN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  <a:defRPr sz="1400">
                <a:solidFill>
                  <a:srgbClr val="8B949E"/>
                </a:solidFill>
                <a:latin typeface="微软雅黑"/>
              </a:defRPr>
            </a:pPr>
            <a:r>
              <a:t>NVIDIA Cosmos Policy — 基于视频基础模型的机器人控制策略</a:t>
            </a:r>
          </a:p>
          <a:p>
            <a:pPr>
              <a:lnSpc>
                <a:spcPts val="1820"/>
              </a:lnSpc>
              <a:spcAft>
                <a:spcPts val="200"/>
              </a:spcAft>
              <a:defRPr sz="1400">
                <a:solidFill>
                  <a:srgbClr val="8B949E"/>
                </a:solidFill>
                <a:latin typeface="微软雅黑"/>
              </a:defRPr>
            </a:pPr>
            <a:r>
              <a:t>每页</a:t>
            </a:r>
            <a:r>
              <a:rPr lang="zh-CN"/>
              <a:t>分析</a:t>
            </a:r>
            <a:r>
              <a:t>一个模块：输入维度 -&gt; 功能原理 -&gt; 输出维度 -&gt; 代码位置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486400"/>
            <a:ext cx="1143000" cy="4572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486400"/>
            <a:ext cx="1143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900" b="0">
                <a:solidFill>
                  <a:srgbClr val="58A6FF"/>
                </a:solidFill>
                <a:latin typeface="微软雅黑"/>
              </a:defRPr>
            </a:pPr>
            <a:r>
              <a:t>观测采集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548640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200" b="0">
                <a:solidFill>
                  <a:srgbClr val="8B949E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39" y="5486400"/>
            <a:ext cx="1143000" cy="4572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39" y="5486400"/>
            <a:ext cx="1143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900" b="0">
                <a:solidFill>
                  <a:srgbClr val="58A6FF"/>
                </a:solidFill>
                <a:latin typeface="微软雅黑"/>
              </a:defRPr>
            </a:pPr>
            <a:r>
              <a:t>VAE编码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548640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200" b="0">
                <a:solidFill>
                  <a:srgbClr val="8B949E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5486400"/>
            <a:ext cx="1143000" cy="4572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5486400"/>
            <a:ext cx="1143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900" b="0">
                <a:solidFill>
                  <a:srgbClr val="58A6FF"/>
                </a:solidFill>
                <a:latin typeface="微软雅黑"/>
              </a:defRPr>
            </a:pPr>
            <a:r>
              <a:t>隐帧布局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548640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200" b="0">
                <a:solidFill>
                  <a:srgbClr val="8B949E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59" y="5486400"/>
            <a:ext cx="1143000" cy="4572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59" y="5486400"/>
            <a:ext cx="1143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900" b="0">
                <a:solidFill>
                  <a:srgbClr val="58A6FF"/>
                </a:solidFill>
                <a:latin typeface="微软雅黑"/>
              </a:defRPr>
            </a:pPr>
            <a:r>
              <a:t>条件掩码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548640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200" b="0">
                <a:solidFill>
                  <a:srgbClr val="8B949E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5486400"/>
            <a:ext cx="1143000" cy="4572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5486400"/>
            <a:ext cx="1143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900" b="0">
                <a:solidFill>
                  <a:srgbClr val="58A6FF"/>
                </a:solidFill>
                <a:latin typeface="微软雅黑"/>
              </a:defRPr>
            </a:pPr>
            <a:r>
              <a:t>文本编码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48640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200" b="0">
                <a:solidFill>
                  <a:srgbClr val="8B949E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5486400"/>
            <a:ext cx="1143000" cy="4572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5486400"/>
            <a:ext cx="1143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900" b="0">
                <a:solidFill>
                  <a:srgbClr val="58A6FF"/>
                </a:solidFill>
                <a:latin typeface="微软雅黑"/>
              </a:defRPr>
            </a:pPr>
            <a:r>
              <a:t>噪声调度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548640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200" b="0">
                <a:solidFill>
                  <a:srgbClr val="8B949E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39" y="5486400"/>
            <a:ext cx="1143000" cy="4572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39" y="5486400"/>
            <a:ext cx="1143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900" b="0">
                <a:solidFill>
                  <a:srgbClr val="58A6FF"/>
                </a:solidFill>
                <a:latin typeface="微软雅黑"/>
              </a:defRPr>
            </a:pPr>
            <a:r>
              <a:t>DiT去噪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19" y="548640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200" b="0">
                <a:solidFill>
                  <a:srgbClr val="8B949E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399" y="5486400"/>
            <a:ext cx="1143000" cy="4572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399" y="5486400"/>
            <a:ext cx="1143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900" b="0">
                <a:solidFill>
                  <a:srgbClr val="58A6FF"/>
                </a:solidFill>
                <a:latin typeface="微软雅黑"/>
              </a:defRPr>
            </a:pPr>
            <a:r>
              <a:t>动作提取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0">
                <a:solidFill>
                  <a:srgbClr val="484F58"/>
                </a:solidFill>
                <a:latin typeface="微软雅黑"/>
              </a:defRPr>
            </a:pPr>
            <a:r>
              <a:t>Cosmos Policy 推理流水线详解 — RoboCasa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  <a:defRPr sz="800" b="0">
                <a:solidFill>
                  <a:srgbClr val="484F58"/>
                </a:solidFill>
                <a:latin typeface="Consolas"/>
              </a:defRPr>
            </a:pPr>
            <a: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0"/>
            <a:ext cx="12115800" cy="10058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2200" b="1">
                <a:solidFill>
                  <a:srgbClr val="F0F6FC"/>
                </a:solidFill>
                <a:latin typeface="微软雅黑"/>
              </a:defRPr>
            </a:pPr>
            <a:r>
              <a:t>流水线总览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200" b="0">
                <a:solidFill>
                  <a:srgbClr val="58A6FF"/>
                </a:solidFill>
                <a:latin typeface="Consolas"/>
              </a:defRPr>
            </a:pPr>
            <a:r>
              <a:t>Pipeline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0">
                <a:solidFill>
                  <a:srgbClr val="484F58"/>
                </a:solidFill>
                <a:latin typeface="微软雅黑"/>
              </a:defRPr>
            </a:pPr>
            <a:r>
              <a:t>Cosmos Policy 推理流水线详解 — RoboCasa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  <a:defRPr sz="800" b="0">
                <a:solidFill>
                  <a:srgbClr val="484F58"/>
                </a:solidFill>
                <a:latin typeface="Consolas"/>
              </a:defRPr>
            </a:pPr>
            <a:r>
              <a:t>2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280160"/>
            <a:ext cx="114300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280160"/>
            <a:ext cx="1143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900" b="0">
                <a:solidFill>
                  <a:srgbClr val="3FB950"/>
                </a:solidFill>
                <a:latin typeface="微软雅黑"/>
              </a:defRPr>
            </a:pPr>
            <a:r>
              <a:t>1. 观测</a:t>
            </a:r>
            <a:br/>
            <a:r>
              <a:t>采集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280160"/>
            <a:ext cx="320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400" b="0">
                <a:solidFill>
                  <a:srgbClr val="8B949E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1280160"/>
            <a:ext cx="114300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6D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1280160"/>
            <a:ext cx="1143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900" b="0">
                <a:solidFill>
                  <a:srgbClr val="56D4DD"/>
                </a:solidFill>
                <a:latin typeface="微软雅黑"/>
              </a:defRPr>
            </a:pPr>
            <a:r>
              <a:t>2. VAE</a:t>
            </a:r>
            <a:br/>
            <a:r>
              <a:t>编码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280160"/>
            <a:ext cx="320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400" b="0">
                <a:solidFill>
                  <a:srgbClr val="8B949E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39" y="1280160"/>
            <a:ext cx="114300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39" y="1280160"/>
            <a:ext cx="1143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900" b="0">
                <a:solidFill>
                  <a:srgbClr val="D2A8FF"/>
                </a:solidFill>
                <a:latin typeface="微软雅黑"/>
              </a:defRPr>
            </a:pPr>
            <a:r>
              <a:t>3. 隐帧</a:t>
            </a:r>
            <a:br/>
            <a:r>
              <a:t>布局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1280160"/>
            <a:ext cx="320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400" b="0">
                <a:solidFill>
                  <a:srgbClr val="8B949E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799" y="1280160"/>
            <a:ext cx="114300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9" y="1280160"/>
            <a:ext cx="1143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900" b="0">
                <a:solidFill>
                  <a:srgbClr val="FF7B72"/>
                </a:solidFill>
                <a:latin typeface="微软雅黑"/>
              </a:defRPr>
            </a:pPr>
            <a:r>
              <a:t>4. 条件</a:t>
            </a:r>
            <a:br/>
            <a:r>
              <a:t>掩码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9" y="1280160"/>
            <a:ext cx="320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400" b="0">
                <a:solidFill>
                  <a:srgbClr val="8B949E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94959" y="1280160"/>
            <a:ext cx="114300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59" y="1280160"/>
            <a:ext cx="1143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900" b="0">
                <a:solidFill>
                  <a:srgbClr val="58A6FF"/>
                </a:solidFill>
                <a:latin typeface="微软雅黑"/>
              </a:defRPr>
            </a:pPr>
            <a:r>
              <a:t>5. 文本</a:t>
            </a:r>
            <a:br/>
            <a:r>
              <a:t>编码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280160"/>
            <a:ext cx="320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400" b="0">
                <a:solidFill>
                  <a:srgbClr val="8B949E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1280160"/>
            <a:ext cx="114300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1280160"/>
            <a:ext cx="1143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900" b="0">
                <a:solidFill>
                  <a:srgbClr val="FFA657"/>
                </a:solidFill>
                <a:latin typeface="微软雅黑"/>
              </a:defRPr>
            </a:pPr>
            <a:r>
              <a:t>6. 噪声</a:t>
            </a:r>
            <a:br/>
            <a:r>
              <a:t>调度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1280160"/>
            <a:ext cx="320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400" b="0">
                <a:solidFill>
                  <a:srgbClr val="8B949E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1280160"/>
            <a:ext cx="114300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79" y="1280160"/>
            <a:ext cx="1143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900" b="0">
                <a:solidFill>
                  <a:srgbClr val="FF6EC7"/>
                </a:solidFill>
                <a:latin typeface="微软雅黑"/>
              </a:defRPr>
            </a:pPr>
            <a:r>
              <a:t>7. DiT</a:t>
            </a:r>
            <a:br/>
            <a:r>
              <a:t>去噪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59" y="1280160"/>
            <a:ext cx="320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400" b="0">
                <a:solidFill>
                  <a:srgbClr val="8B949E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1280160"/>
            <a:ext cx="114300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1280160"/>
            <a:ext cx="1143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900" b="0">
                <a:solidFill>
                  <a:srgbClr val="3FB950"/>
                </a:solidFill>
                <a:latin typeface="微软雅黑"/>
              </a:defRPr>
            </a:pPr>
            <a:r>
              <a:t>8. EDM</a:t>
            </a:r>
            <a:br/>
            <a:r>
              <a:t>预处理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19" y="1280160"/>
            <a:ext cx="320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400" b="0">
                <a:solidFill>
                  <a:srgbClr val="8B949E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15600" y="1280160"/>
            <a:ext cx="114300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6D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0" y="1280160"/>
            <a:ext cx="1143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900" b="0">
                <a:solidFill>
                  <a:srgbClr val="56D4DD"/>
                </a:solidFill>
                <a:latin typeface="微软雅黑"/>
              </a:defRPr>
            </a:pPr>
            <a:r>
              <a:t>9. 迭代</a:t>
            </a:r>
            <a:br/>
            <a:r>
              <a:t>采样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2743200"/>
            <a:ext cx="114300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2743200"/>
            <a:ext cx="1143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900" b="0">
                <a:solidFill>
                  <a:srgbClr val="3FB950"/>
                </a:solidFill>
                <a:latin typeface="微软雅黑"/>
              </a:defRPr>
            </a:pPr>
            <a:r>
              <a:t>10. VAE</a:t>
            </a:r>
            <a:br/>
            <a:r>
              <a:t>解码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2743200"/>
            <a:ext cx="320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400" b="0">
                <a:solidFill>
                  <a:srgbClr val="8B949E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554480" y="2743200"/>
            <a:ext cx="114300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54480" y="2743200"/>
            <a:ext cx="1143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900" b="0">
                <a:solidFill>
                  <a:srgbClr val="FF7B72"/>
                </a:solidFill>
                <a:latin typeface="微软雅黑"/>
              </a:defRPr>
            </a:pPr>
            <a:r>
              <a:t>11. 动作</a:t>
            </a:r>
            <a:br/>
            <a:r>
              <a:t>提取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2743200"/>
            <a:ext cx="320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400" b="0">
                <a:solidFill>
                  <a:srgbClr val="8B949E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834639" y="2743200"/>
            <a:ext cx="114300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4639" y="2743200"/>
            <a:ext cx="1143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900" b="0">
                <a:solidFill>
                  <a:srgbClr val="D2A8FF"/>
                </a:solidFill>
                <a:latin typeface="微软雅黑"/>
              </a:defRPr>
            </a:pPr>
            <a:r>
              <a:t>12. 本体</a:t>
            </a:r>
            <a:br/>
            <a:r>
              <a:t>感知提取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0" y="2743200"/>
            <a:ext cx="320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400" b="0">
                <a:solidFill>
                  <a:srgbClr val="8B949E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799" y="2743200"/>
            <a:ext cx="114300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9" y="2743200"/>
            <a:ext cx="1143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900" b="0">
                <a:solidFill>
                  <a:srgbClr val="FFA657"/>
                </a:solidFill>
                <a:latin typeface="微软雅黑"/>
              </a:defRPr>
            </a:pPr>
            <a:r>
              <a:t>13. 机器人</a:t>
            </a:r>
            <a:br/>
            <a:r>
              <a:t>执行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79" y="2743200"/>
            <a:ext cx="320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400" b="0">
                <a:solidFill>
                  <a:srgbClr val="8B949E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94959" y="2743200"/>
            <a:ext cx="114300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59" y="2743200"/>
            <a:ext cx="1143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900" b="0">
                <a:solidFill>
                  <a:srgbClr val="58A6FF"/>
                </a:solidFill>
                <a:latin typeface="微软雅黑"/>
              </a:defRPr>
            </a:pPr>
            <a:r>
              <a:t>14. 开环</a:t>
            </a:r>
            <a:br/>
            <a:r>
              <a:t>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2743200"/>
            <a:ext cx="320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400" b="0">
                <a:solidFill>
                  <a:srgbClr val="8B949E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75120" y="2743200"/>
            <a:ext cx="114300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6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0" y="2743200"/>
            <a:ext cx="1143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900" b="0">
                <a:solidFill>
                  <a:srgbClr val="FF6EC7"/>
                </a:solidFill>
                <a:latin typeface="微软雅黑"/>
              </a:defRPr>
            </a:pPr>
            <a:r>
              <a:t>15. Best-of-N</a:t>
            </a:r>
            <a:br/>
            <a:r>
              <a:t>规划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2743200"/>
            <a:ext cx="320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400" b="0">
                <a:solidFill>
                  <a:srgbClr val="8B949E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955279" y="2743200"/>
            <a:ext cx="114300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55279" y="2743200"/>
            <a:ext cx="1143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900" b="0">
                <a:solidFill>
                  <a:srgbClr val="FF7B72"/>
                </a:solidFill>
                <a:latin typeface="微软雅黑"/>
              </a:defRPr>
            </a:pPr>
            <a:r>
              <a:t>16. 价值</a:t>
            </a:r>
            <a:br/>
            <a:r>
              <a:t>预测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59" y="2743200"/>
            <a:ext cx="320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400" b="0">
                <a:solidFill>
                  <a:srgbClr val="8B949E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35440" y="2743200"/>
            <a:ext cx="114300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6D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35440" y="2743200"/>
            <a:ext cx="1143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900" b="0">
                <a:solidFill>
                  <a:srgbClr val="56D4DD"/>
                </a:solidFill>
                <a:latin typeface="微软雅黑"/>
              </a:defRPr>
            </a:pPr>
            <a:r>
              <a:t>17. 多视角</a:t>
            </a:r>
            <a:br/>
            <a:r>
              <a:t>融合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32719" y="2743200"/>
            <a:ext cx="320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400" b="0">
                <a:solidFill>
                  <a:srgbClr val="8B949E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515600" y="2743200"/>
            <a:ext cx="114300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515600" y="2743200"/>
            <a:ext cx="1143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900" b="0">
                <a:solidFill>
                  <a:srgbClr val="D2A8FF"/>
                </a:solidFill>
                <a:latin typeface="微软雅黑"/>
              </a:defRPr>
            </a:pPr>
            <a:r>
              <a:t>18. 训练vs</a:t>
            </a:r>
            <a:br/>
            <a:r>
              <a:t>推理对比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4023360"/>
            <a:ext cx="11247120" cy="118872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360" y="406908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FFA657"/>
                </a:solidFill>
                <a:latin typeface="微软雅黑"/>
              </a:defRPr>
            </a:pPr>
            <a:r>
              <a:t>RoboCasa 配置说明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" y="43159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state_t=11 帧观测历史 | chunk_size=32 步动作预测 | action_dim=7 自由度 | proprio_dim=9 本体感知维度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3个相机视角 (agentview, eye_in_hand, robot0_robotface)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总隐帧数 = 11帧视频 + 8帧动作 + 2帧本体感知 = 21帧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每个隐帧形状: (1, 16, 28, 28)，输入 224x224 经过 8x 空间压缩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5486400"/>
            <a:ext cx="11247120" cy="502920"/>
          </a:xfrm>
          <a:prstGeom prst="roundRect">
            <a:avLst/>
          </a:prstGeom>
          <a:solidFill>
            <a:srgbClr val="1A1E24"/>
          </a:solidFill>
          <a:ln w="635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360" y="548640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Consolas"/>
              </a:defRPr>
            </a:pPr>
            <a:r>
              <a:t>CODE: cosmos_policy/constants.py  |  cosmos_policy/experiments/robot/cosmos_utils.py:61-85  |  cosmos_policy/config/experiment/cosmos_policy_experiment_configs.py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0"/>
            <a:ext cx="12115800" cy="10058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2200" b="1">
                <a:solidFill>
                  <a:srgbClr val="F0F6FC"/>
                </a:solidFill>
                <a:latin typeface="微软雅黑"/>
              </a:defRPr>
            </a:pPr>
            <a:r>
              <a:t>模块 1: 观测数据采集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200" b="0">
                <a:solidFill>
                  <a:srgbClr val="3FB950"/>
                </a:solidFill>
                <a:latin typeface="Consolas"/>
              </a:defRPr>
            </a:pPr>
            <a:r>
              <a:t>Observation Data Collection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0">
                <a:solidFill>
                  <a:srgbClr val="484F58"/>
                </a:solidFill>
                <a:latin typeface="微软雅黑"/>
              </a:defRPr>
            </a:pPr>
            <a:r>
              <a:t>Cosmos Policy 推理流水线详解 — RoboCasa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  <a:defRPr sz="800" b="0">
                <a:solidFill>
                  <a:srgbClr val="484F58"/>
                </a:solidFill>
                <a:latin typeface="Consolas"/>
              </a:defRPr>
            </a:pPr>
            <a:r>
              <a:t>3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24712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909955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3FB950"/>
                </a:solidFill>
                <a:latin typeface="微软雅黑"/>
              </a:defRPr>
            </a:pPr>
            <a:r>
              <a:t>⬅ 输入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22351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来自 RoboCasa 仿真环境的原始传感器数据：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- 3路相机图像: 各 (B, 3, 224, 224) [agentview, eye_in_hand, robotface]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本体感知状态: (B, 9) [关节位置(7) + 夹爪(2)]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任务语言指令: 字符串，如 'pick up the red block'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0280"/>
            <a:ext cx="11247120" cy="146304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D2A8FF"/>
                </a:solidFill>
                <a:latin typeface="微软雅黑"/>
              </a:defRPr>
            </a:pPr>
            <a:r>
              <a:t>⚙ 原理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3288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从机器人环境采集多模态观测数据。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1. 从3个标定相机捕获 224x224 RGB 图像。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2. 读取机器人关节位置 (7自由度) + 夹爪状态 (2值) = 9维本体感知。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3. 接收自然语言任务描述。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4. 堆叠历史帧：state_t=11 帧观测历史。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5. 图像归一化到 [-1, 1] 范围，本体感知按维度归一化。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1124712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721735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FF7B72"/>
                </a:solidFill>
                <a:latin typeface="微软雅黑"/>
              </a:defRPr>
            </a:pPr>
            <a:r>
              <a:t>➡ 输出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950843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处理后的观测张量：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images_list: 长度为3的列表，每个 (B, 3, 224, 224)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proprio: (B, 9) 归一化的关节+夹爪状态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task_text: 字符串，回合的语言指令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92040"/>
            <a:ext cx="11247120" cy="6400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876799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8B949E"/>
                </a:solidFill>
                <a:latin typeface="微软雅黑"/>
              </a:defRPr>
            </a:pPr>
            <a:r>
              <a:t>数据格式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103368"/>
            <a:ext cx="1097280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RoboCasa 数据集: HDF5 格式，包含 observations/qpos/gripper_state/actions 字段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state_t=11 表示堆叠11帧历史观测作为上下文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760720"/>
            <a:ext cx="11247120" cy="502920"/>
          </a:xfrm>
          <a:prstGeom prst="roundRect">
            <a:avLst/>
          </a:prstGeom>
          <a:solidFill>
            <a:srgbClr val="1A1E24"/>
          </a:solidFill>
          <a:ln w="635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Consolas"/>
              </a:defRPr>
            </a:pPr>
            <a:r>
              <a:t>CODE: cosmos_policy/experiments/robot/cosmos_utils.py:851 get_action()  |  prepare_data_batch()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6D4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0"/>
            <a:ext cx="12115800" cy="10058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2200" b="1">
                <a:solidFill>
                  <a:srgbClr val="F0F6FC"/>
                </a:solidFill>
                <a:latin typeface="微软雅黑"/>
              </a:defRPr>
            </a:pPr>
            <a:r>
              <a:t>模块 2: VAE 编码器 (视频分词)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200" b="0">
                <a:solidFill>
                  <a:srgbClr val="56D4DD"/>
                </a:solidFill>
                <a:latin typeface="Consolas"/>
              </a:defRPr>
            </a:pPr>
            <a:r>
              <a:t>WAN 2.1 VAE Encoder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0">
                <a:solidFill>
                  <a:srgbClr val="484F58"/>
                </a:solidFill>
                <a:latin typeface="微软雅黑"/>
              </a:defRPr>
            </a:pPr>
            <a:r>
              <a:t>Cosmos Policy 推理流水线详解 — RoboCasa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  <a:defRPr sz="800" b="0">
                <a:solidFill>
                  <a:srgbClr val="484F58"/>
                </a:solidFill>
                <a:latin typeface="Consolas"/>
              </a:defRPr>
            </a:pPr>
            <a:r>
              <a:t>4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24712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934085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3FB950"/>
                </a:solidFill>
                <a:latin typeface="微软雅黑"/>
              </a:defRPr>
            </a:pPr>
            <a:r>
              <a:t>⬅ 输入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26161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原始视频帧: (B, 3, T, H, W)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每个相机视角: (B, 3, state_t=11, 224, 224)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像素范围: [-1, 1] (已归一化)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- 3路独立相机流分别编码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0280"/>
            <a:ext cx="11247120" cy="146304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D2A8FF"/>
                </a:solidFill>
                <a:latin typeface="微软雅黑"/>
              </a:defRPr>
            </a:pPr>
            <a:r>
              <a:t>⚙ 原理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45893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WAN 2.1 视频 VAE 编码器将像素空间视频压缩为紧凑的隐空间。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1. 空间维度: 通过2D卷积实现8倍下采样 (224-&gt;112-&gt;56-&gt;28)。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2. 时间维度: 通过3D因果卷积实现4倍下采样 (每4帧为一组)。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3. 通道维度: 3 (RGB) -&gt; 16 (隐变量通道)。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4. KL正则化保持隐变量在良好分布内，便于扩散模型处理。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5. 每个相机视角独立编码。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6. state_t=11 帧 -&gt; ceil(11/4)=3 个时间隐帧/视角。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1124712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72364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FF7B72"/>
                </a:solidFill>
                <a:latin typeface="微软雅黑"/>
              </a:defRPr>
            </a:pPr>
            <a:r>
              <a:t>➡ 输出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86638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隐变量表示: (B, z_dim=16, T', H', W')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每个相机: (B, 16, 3, 28, 28)  [T'=11/4≈3，填充至3个时间帧]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空间压缩: 224/8 = 28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时间压缩: 4x (4个像素帧 -&gt; 1个隐帧)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隐空间: 连续的，由 KL 正则化 VAE 学习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92040"/>
            <a:ext cx="11247120" cy="59436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937759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FFA657"/>
                </a:solidFill>
                <a:latin typeface="微软雅黑"/>
              </a:defRPr>
            </a:pPr>
            <a:r>
              <a:t>压缩比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1846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总压缩比: 8x 空间 * 4x 时间 = 32倍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每个 224x224 RGB 帧 -&gt; 1x28x28x16 隐变量 = 12,544 个值 (对比 150,528 像素)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760720"/>
            <a:ext cx="11247120" cy="502920"/>
          </a:xfrm>
          <a:prstGeom prst="roundRect">
            <a:avLst/>
          </a:prstGeom>
          <a:solidFill>
            <a:srgbClr val="1A1E24"/>
          </a:solidFill>
          <a:ln w="635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Consolas"/>
              </a:defRPr>
            </a:pPr>
            <a:r>
              <a:t>CODE: cosmos_policy/tokenizers/wan2pt1.py:197 class CosmosPolicyWanVAE  |  :303 encode()  |  :44 class WanVAE_  |  :51 encode()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0"/>
            <a:ext cx="12115800" cy="10058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2200" b="1">
                <a:solidFill>
                  <a:srgbClr val="F0F6FC"/>
                </a:solidFill>
                <a:latin typeface="微软雅黑"/>
              </a:defRPr>
            </a:pPr>
            <a:r>
              <a:t>模块 3: 隐帧布局 (隐变量帧注入)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200" b="0">
                <a:solidFill>
                  <a:srgbClr val="D2A8FF"/>
                </a:solidFill>
                <a:latin typeface="Consolas"/>
              </a:defRPr>
            </a:pPr>
            <a:r>
              <a:t>Latent Frame Injection &amp; Sequence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0">
                <a:solidFill>
                  <a:srgbClr val="484F58"/>
                </a:solidFill>
                <a:latin typeface="微软雅黑"/>
              </a:defRPr>
            </a:pPr>
            <a:r>
              <a:t>Cosmos Policy 推理流水线详解 — RoboCasa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  <a:defRPr sz="800" b="0">
                <a:solidFill>
                  <a:srgbClr val="484F58"/>
                </a:solidFill>
                <a:latin typeface="Consolas"/>
              </a:defRPr>
            </a:pPr>
            <a:r>
              <a:t>5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76960"/>
            <a:ext cx="1124712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96901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3FB950"/>
                </a:solidFill>
                <a:latin typeface="微软雅黑"/>
              </a:defRPr>
            </a:pPr>
            <a:r>
              <a:t>⬅ 输入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142873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观测隐变量 + 动作/本体感知/价值 元数据：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- 3路相机隐变量: 各 (B, 16, 3, 28, 28)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动作块: (B, 32, 7) = 224个值，推理时全零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本体感知状态: (B, 9) 个值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价值占位符: 标量 (用于规划模式)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0280"/>
            <a:ext cx="11247120" cy="146304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5392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D2A8FF"/>
                </a:solidFill>
                <a:latin typeface="微软雅黑"/>
              </a:defRPr>
            </a:pPr>
            <a:r>
              <a:t>⚙ 原理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278253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核心创新: 将所有模态编码到统一的隐帧序列中。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1. 动作隐变量注入: 224个动作值 (32x7) 重复填充到8个隐帧中。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   每帧有 16*28*28=12,544 个槽位，每帧前 224/8=28 个值被设置 (重复填充)。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2. 本体感知注入: 9个值以同样方式重复填充到2个隐帧中。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3. 时间复制: WAN VAE 将4个像素帧映射为1个隐帧，因此每个概念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   需要4张相同图像才能产生1个隐帧 (训练时处理)。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4. 推理时: 动作/本体感知帧初始化为噪声 (等待去噪)。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1124712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669665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FF7B72"/>
                </a:solidFill>
                <a:latin typeface="微软雅黑"/>
              </a:defRPr>
            </a:pPr>
            <a:r>
              <a:t>➡ 输出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175" y="3536823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完整隐变量序列: (B, 16, total_frames, 28, 28)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RoboCasa 布局 (共21帧):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帧 0-2:   相机1 隐变量 (3帧)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帧 3-4:   相机2 隐变量 (2帧)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帧 5-6:   相机3 隐变量 (2帧)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帧 7-14:  动作 隐变量 (8帧, 32步 * 7维 映射)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帧 15-16: 本体感知 隐变量 (2帧, 9维 映射)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帧 17-20: 未来状态预测 (4帧)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130800"/>
            <a:ext cx="11247120" cy="6400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937759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58A6FF"/>
                </a:solidFill>
                <a:latin typeface="微软雅黑"/>
              </a:defRPr>
            </a:pPr>
            <a:r>
              <a:t>核心思想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184648"/>
            <a:ext cx="1097280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将机器人动作视为'伪视频帧' -- 同一个扩散过程同时去噪视频和预测动作。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这是核心洞察: 通过共享隐空间实现统一的多模态生成。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760720"/>
            <a:ext cx="11247120" cy="502920"/>
          </a:xfrm>
          <a:prstGeom prst="roundRect">
            <a:avLst/>
          </a:prstGeom>
          <a:solidFill>
            <a:srgbClr val="1A1E24"/>
          </a:solidFill>
          <a:ln w="635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Consolas"/>
              </a:defRPr>
            </a:pPr>
            <a:r>
              <a:t>CODE: cosmos_policy/models/policy_text2world_model.py:45 replace_latent_with_action_chunk()  |  :112 replace_latent_with_proprio()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0"/>
            <a:ext cx="12115800" cy="10058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2200" b="1">
                <a:solidFill>
                  <a:srgbClr val="F0F6FC"/>
                </a:solidFill>
                <a:latin typeface="微软雅黑"/>
              </a:defRPr>
            </a:pPr>
            <a:r>
              <a:t>模块 4: 条件掩码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200" b="0">
                <a:solidFill>
                  <a:srgbClr val="FF7B72"/>
                </a:solidFill>
                <a:latin typeface="Consolas"/>
              </a:defRPr>
            </a:pPr>
            <a:r>
              <a:t>Condition Mask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0">
                <a:solidFill>
                  <a:srgbClr val="484F58"/>
                </a:solidFill>
                <a:latin typeface="微软雅黑"/>
              </a:defRPr>
            </a:pPr>
            <a:r>
              <a:t>Cosmos Policy 推理流水线详解 — RoboCasa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  <a:defRPr sz="800" b="0">
                <a:solidFill>
                  <a:srgbClr val="484F58"/>
                </a:solidFill>
                <a:latin typeface="Consolas"/>
              </a:defRPr>
            </a:pPr>
            <a:r>
              <a:t>6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895985"/>
            <a:ext cx="1124712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1"/>
            </p:custDataLst>
          </p:nvPr>
        </p:nvSpPr>
        <p:spPr>
          <a:xfrm>
            <a:off x="594360" y="94615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3FB950"/>
                </a:solidFill>
                <a:latin typeface="微软雅黑"/>
              </a:defRPr>
            </a:pPr>
            <a:r>
              <a:t>⬅ 输入 INPUT</a:t>
            </a:r>
          </a:p>
        </p:txBody>
      </p:sp>
      <p:sp>
        <p:nvSpPr>
          <p:cNvPr id="10" name="TextBox 9"/>
          <p:cNvSpPr txBox="1"/>
          <p:nvPr>
            <p:custDataLst>
              <p:tags r:id="rId2"/>
            </p:custDataLst>
          </p:nvPr>
        </p:nvSpPr>
        <p:spPr>
          <a:xfrm>
            <a:off x="594360" y="1142873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完整隐变量序列: (B, 16, 21, 28, 28)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视频观测帧: 已知/干净的 (来自真实观测的编码)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动作/本体感知/未来帧: 推理时未知 (需要去噪生成)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38325"/>
            <a:ext cx="11247120" cy="146304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3"/>
            </p:custDataLst>
          </p:nvPr>
        </p:nvSpPr>
        <p:spPr>
          <a:xfrm>
            <a:off x="594360" y="1892935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D2A8FF"/>
                </a:solidFill>
                <a:latin typeface="微软雅黑"/>
              </a:defRPr>
            </a:pPr>
            <a:r>
              <a:t>⚙ 原理 FUNCTION</a:t>
            </a:r>
          </a:p>
        </p:txBody>
      </p:sp>
      <p:sp>
        <p:nvSpPr>
          <p:cNvPr id="13" name="TextBox 12"/>
          <p:cNvSpPr txBox="1"/>
          <p:nvPr>
            <p:custDataLst>
              <p:tags r:id="rId4"/>
            </p:custDataLst>
          </p:nvPr>
        </p:nvSpPr>
        <p:spPr>
          <a:xfrm>
            <a:off x="594360" y="2111883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二值掩码告诉模型哪些帧是'已知条件'，哪些是'待预测目标'。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1. 观测帧 (mask=1): 来自 VAE 编码器的干净隐变量。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   扩散过程中，不会对这些帧添加噪声。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2. 动作/本体感知/未来帧 (mask=0): 去噪的目标。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   训练时添加噪声，模型学习如何去噪。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3. 推理时: 观测帧保持固定，动作帧从纯噪声开始，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   经迭代去噪产生动作预测。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4. 支持灵活的条件控制: 不同帧类型可以独立设置干净或含噪。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29660"/>
            <a:ext cx="11247120" cy="1203325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5"/>
            </p:custDataLst>
          </p:nvPr>
        </p:nvSpPr>
        <p:spPr>
          <a:xfrm>
            <a:off x="594360" y="3696335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FF7B72"/>
                </a:solidFill>
                <a:latin typeface="微软雅黑"/>
              </a:defRPr>
            </a:pPr>
            <a:r>
              <a:t>➡ 输出 OUTPUT</a:t>
            </a:r>
          </a:p>
        </p:txBody>
      </p:sp>
      <p:sp>
        <p:nvSpPr>
          <p:cNvPr id="16" name="TextBox 15"/>
          <p:cNvSpPr txBox="1"/>
          <p:nvPr>
            <p:custDataLst>
              <p:tags r:id="rId6"/>
            </p:custDataLst>
          </p:nvPr>
        </p:nvSpPr>
        <p:spPr>
          <a:xfrm>
            <a:off x="594360" y="39375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二值条件掩码: (B, 1, 21, 28, 28) 或 (21,) 广播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mask=1 对应干净观测帧 (帧 0-6: 相机隐变量)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mask=0 对应去噪目标帧 (帧 7-20: 动作/本体感知/未来)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控制哪些帧保持固定，哪些由扩散模型预测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760720"/>
            <a:ext cx="11247120" cy="502920"/>
          </a:xfrm>
          <a:prstGeom prst="roundRect">
            <a:avLst/>
          </a:prstGeom>
          <a:solidFill>
            <a:srgbClr val="1A1E24"/>
          </a:solidFill>
          <a:ln w="635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Consolas"/>
              </a:defRPr>
            </a:pPr>
            <a:r>
              <a:t>CODE: cosmos_policy/models/policy_video2world_model.py:100 get_data_and_condition()  |  policy_text2world_model.py:246 compute_loss_with_epsilon_and_sigma()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0"/>
            <a:ext cx="12115800" cy="10058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2200" b="1">
                <a:solidFill>
                  <a:srgbClr val="F0F6FC"/>
                </a:solidFill>
                <a:latin typeface="微软雅黑"/>
              </a:defRPr>
            </a:pPr>
            <a:r>
              <a:t>模块 5: 文本条件编码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200" b="0">
                <a:solidFill>
                  <a:srgbClr val="58A6FF"/>
                </a:solidFill>
                <a:latin typeface="Consolas"/>
              </a:defRPr>
            </a:pPr>
            <a:r>
              <a:t>Text Condition Encoding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0">
                <a:solidFill>
                  <a:srgbClr val="484F58"/>
                </a:solidFill>
                <a:latin typeface="微软雅黑"/>
              </a:defRPr>
            </a:pPr>
            <a:r>
              <a:t>Cosmos Policy 推理流水线详解 — RoboCasa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  <a:defRPr sz="800" b="0">
                <a:solidFill>
                  <a:srgbClr val="484F58"/>
                </a:solidFill>
                <a:latin typeface="Consolas"/>
              </a:defRPr>
            </a:pPr>
            <a:r>
              <a:t>7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76960"/>
            <a:ext cx="1124712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115695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3FB950"/>
                </a:solidFill>
                <a:latin typeface="微软雅黑"/>
              </a:defRPr>
            </a:pPr>
            <a:r>
              <a:t>⬅ 输入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348613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任务指令字符串: 如 'pick up the red block and place it on the green target'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来自 RoboCasa 任务规格的原始文本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每个回合一条指令 (序列中所有帧共享)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28520"/>
            <a:ext cx="11247120" cy="146304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9456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D2A8FF"/>
                </a:solidFill>
                <a:latin typeface="微软雅黑"/>
              </a:defRPr>
            </a:pPr>
            <a:r>
              <a:t>⚙ 原理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36016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将语言指令编码为稠密嵌入，用于交叉注意力。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1. 使用 T5 分词器对指令进行分词。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2. 通过冻结的 T5-XXL 编码器 (46亿参数)。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3. 投影到交叉注意力维度 (1024)。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4. GeneralConditioner 处理 dropout (无分类器引导训练)。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   推理时: dropout=0，始终以文本为条件。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5. Text2WorldCondition 扩展 BaseCondition，在文本之外增加视频条件上下文。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08400"/>
            <a:ext cx="1124712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73380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FF7B72"/>
                </a:solidFill>
                <a:latin typeface="微软雅黑"/>
              </a:defRPr>
            </a:pPr>
            <a:r>
              <a:t>➡ 输出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91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交叉注意力嵌入: (B, seq_len, crossattn_dim)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seq_len ~20-77 个token (T5 分词器输出)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crossattn_dim = 1024 (匹配 DiT 隐藏维度)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在 DiT 网络的每个交叉注意力层中使用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92040"/>
            <a:ext cx="11247120" cy="59436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873624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3FB950"/>
                </a:solidFill>
                <a:latin typeface="微软雅黑"/>
              </a:defRPr>
            </a:pPr>
            <a:r>
              <a:t>无分类器引导 (CFG)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045583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训练时随机丢弃文本 (10-20%)。推理时 guidance_scale 控制文本条件强度: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predicted = uncond + scale * (cond - uncond)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scale 越大，模型越严格遵循文本指令。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760720"/>
            <a:ext cx="11247120" cy="502920"/>
          </a:xfrm>
          <a:prstGeom prst="roundRect">
            <a:avLst/>
          </a:prstGeom>
          <a:solidFill>
            <a:srgbClr val="1A1E24"/>
          </a:solidFill>
          <a:ln w="635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Consolas"/>
              </a:defRPr>
            </a:pPr>
            <a:r>
              <a:t>CODE: cosmos_policy/conditioner.py:86 class Text2WorldCondition  |  :112 class GeneralConditioner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0"/>
            <a:ext cx="12115800" cy="10058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2200" b="1">
                <a:solidFill>
                  <a:srgbClr val="F0F6FC"/>
                </a:solidFill>
                <a:latin typeface="微软雅黑"/>
              </a:defRPr>
            </a:pPr>
            <a:r>
              <a:t>模块 6: 噪声调度 (训练阶段)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200" b="0">
                <a:solidFill>
                  <a:srgbClr val="FFA657"/>
                </a:solidFill>
                <a:latin typeface="Consolas"/>
              </a:defRPr>
            </a:pPr>
            <a:r>
              <a:t>Hybrid EDM SDE Noise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0">
                <a:solidFill>
                  <a:srgbClr val="484F58"/>
                </a:solidFill>
                <a:latin typeface="微软雅黑"/>
              </a:defRPr>
            </a:pPr>
            <a:r>
              <a:t>Cosmos Policy 推理流水线详解 — RoboCasa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  <a:defRPr sz="800" b="0">
                <a:solidFill>
                  <a:srgbClr val="484F58"/>
                </a:solidFill>
                <a:latin typeface="Consolas"/>
              </a:defRPr>
            </a:pPr>
            <a:r>
              <a:t>8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24712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3FB950"/>
                </a:solidFill>
                <a:latin typeface="微软雅黑"/>
              </a:defRPr>
            </a:pPr>
            <a:r>
              <a:t>⬅ 输入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813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干净隐变量 x_0: (B, 16, 21, 28, 28)  [仅去噪目标帧参与]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训练时: 从混合分布中采样噪声等级 sigma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0280"/>
            <a:ext cx="11247120" cy="146304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30425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D2A8FF"/>
                </a:solidFill>
                <a:latin typeface="微软雅黑"/>
              </a:defRPr>
            </a:pPr>
            <a:r>
              <a:t>⚙ 原理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285873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混合 EDM 噪声调度，确保训练稳定性。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1. 70% 概率: 从对数正态分布 N(P_mean, P_std^2) 采样 sigma。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   log(sigma) ~ N(-1.2, 1.2^2)。偏向中等噪声等级。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2. 30% 概率: 从 [sigma_min, sigma_max] 均匀采样 sigma。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   确保覆盖极端噪声等级。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3. 推理时: sigma 从 sigma_max 到 sigma_min 确定性递减。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4. EDM 预处理缩放网络输入/输出: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   c_skip(sigma), c_out(sigma), c_in(sigma), c_noise(sigma) 函数。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1124712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80365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FF7B72"/>
                </a:solidFill>
                <a:latin typeface="微软雅黑"/>
              </a:defRPr>
            </a:pPr>
            <a:r>
              <a:t>➡ 输出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000373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含噪隐变量 x_sigma = x_0 + sigma * epsilon: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(B, 16, 21, 28, 28)  [epsilon ~ N(0, I)]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sigma 值按批次从混合分布采样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仅 mask=0 的帧添加噪声；mask=1 帧保持干净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92040"/>
            <a:ext cx="11247120" cy="6400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886959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D2A8FF"/>
                </a:solidFill>
                <a:latin typeface="微软雅黑"/>
              </a:defRPr>
            </a:pPr>
            <a:r>
              <a:t>EDM 预处理公式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093208"/>
            <a:ext cx="1097280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F_denoise(x, sigma) = c_skip * x + c_out * Net(c_in * x, c_noise(sigma))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c_in = 1/(sigma^2+1)^0.5 | c_out = sigma/(sigma^2+1)^0.5 | c_skip = 1 | c_noise = 0.25*log(sigma)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760720"/>
            <a:ext cx="11247120" cy="502920"/>
          </a:xfrm>
          <a:prstGeom prst="roundRect">
            <a:avLst/>
          </a:prstGeom>
          <a:solidFill>
            <a:srgbClr val="1A1E24"/>
          </a:solidFill>
          <a:ln w="635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Consolas"/>
              </a:defRPr>
            </a:pPr>
            <a:r>
              <a:t>CODE: cosmos_policy/modules/hybrid_edm_sde.py:22 class HybridEDMSDE  |  :48 sample_t()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0"/>
            <a:ext cx="12115800" cy="10058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2200" b="1">
                <a:solidFill>
                  <a:srgbClr val="F0F6FC"/>
                </a:solidFill>
                <a:latin typeface="微软雅黑"/>
              </a:defRPr>
            </a:pPr>
            <a:r>
              <a:t>模块 7: DiT 网络 (扩散 Transformer)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200" b="0">
                <a:solidFill>
                  <a:srgbClr val="FF6EC7"/>
                </a:solidFill>
                <a:latin typeface="Consolas"/>
              </a:defRPr>
            </a:pPr>
            <a:r>
              <a:t>Diffusion Transformer — Core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0">
                <a:solidFill>
                  <a:srgbClr val="484F58"/>
                </a:solidFill>
                <a:latin typeface="微软雅黑"/>
              </a:defRPr>
            </a:pPr>
            <a:r>
              <a:t>Cosmos Policy 推理流水线详解 — RoboCasa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  <a:defRPr sz="800" b="0">
                <a:solidFill>
                  <a:srgbClr val="484F58"/>
                </a:solidFill>
                <a:latin typeface="Consolas"/>
              </a:defRPr>
            </a:pPr>
            <a:r>
              <a:t>9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24712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3FB950"/>
                </a:solidFill>
                <a:latin typeface="微软雅黑"/>
              </a:defRPr>
            </a:pPr>
            <a:r>
              <a:t>⬅ 输入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371473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含噪隐变量: (B, 16, 21, 28, 28) 经 c_in 缩放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时间步嵌入: sigma -&gt; c_noise -&gt; 正弦位置嵌入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交叉注意力上下文: (B, token_len, 1024) 来自文本编码器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条件掩码: (B, 1, 21, 28, 28)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0280"/>
            <a:ext cx="11247120" cy="146304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D2A8FF"/>
                </a:solidFill>
                <a:latin typeface="微软雅黑"/>
              </a:defRPr>
            </a:pPr>
            <a:r>
              <a:t>⚙ 原理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2760" y="220268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20亿参数的扩散 Transformer，采用自注意力 + 交叉注意力架构。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1. 补丁嵌入: 将 (16, 28, 28) 空间展平为补丁 token 序列。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2. 位置编码: 3D RoPE (空间 + 时间位置)。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3. 28个 DiT 块，每个包含: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   - AdaLN (自适应层归一化): 以时间步 sigma 为条件。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   - 自注意力: 跨所有帧位置进行注意力 (时间 + 空间)。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   - 交叉注意力: 关注来自 T5 的文本嵌入。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   - 前馈网络: GPT-2 风格 MLP + GELU。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4. 最终层: 线性投影回 (16, 28, 28) 每帧。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5. 总参数量 20亿，bf16 混合精度。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73525"/>
            <a:ext cx="1124712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015105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FF7B72"/>
                </a:solidFill>
                <a:latin typeface="微软雅黑"/>
              </a:defRPr>
            </a:pPr>
            <a:r>
              <a:t>➡ 输出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3308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去噪预测 F_theta: (B, 16, 21, 28, 28)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经过 EDM 输出缩放: x_hat = c_skip * x_noisy + c_out * F_theta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仅 mask=0 的帧包含有意义的预测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92040"/>
            <a:ext cx="11247120" cy="59436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937759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56D4DD"/>
                </a:solidFill>
                <a:latin typeface="微软雅黑"/>
              </a:defRPr>
            </a:pPr>
            <a:r>
              <a:t>架构流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10717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输入: (B, 16, T=21, 28, 28) -&gt; PatchEmbed -&gt; T*784个维度1024的token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-&gt; 28x DiT块 (SelfAttn + CrossAttn + FFN) -&gt; FinalLayer -&gt; (B, 16, T, 28, 28)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760720"/>
            <a:ext cx="11247120" cy="502920"/>
          </a:xfrm>
          <a:prstGeom prst="roundRect">
            <a:avLst/>
          </a:prstGeom>
          <a:solidFill>
            <a:srgbClr val="1A1E24"/>
          </a:solidFill>
          <a:ln w="635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Consolas"/>
              </a:defRPr>
            </a:pPr>
            <a:r>
              <a:t>CODE: cosmos_policy/_src/predict2/networks/minimal_v4_dit.py:1386 class MiniTrainDIT  |  :1713 forward()  |  :389 class Attention  |  :583 class I2VCrossAttention  |  :1049 class FinalLayer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0"/>
            <a:ext cx="12115800" cy="10058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2200" b="1">
                <a:solidFill>
                  <a:srgbClr val="F0F6FC"/>
                </a:solidFill>
                <a:latin typeface="微软雅黑"/>
              </a:defRPr>
            </a:pPr>
            <a:r>
              <a:t>模块 8: EDM 预处理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200" b="0">
                <a:solidFill>
                  <a:srgbClr val="3FB950"/>
                </a:solidFill>
                <a:latin typeface="Consolas"/>
              </a:defRPr>
            </a:pPr>
            <a:r>
              <a:t>EDM Preconditioning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0">
                <a:solidFill>
                  <a:srgbClr val="484F58"/>
                </a:solidFill>
                <a:latin typeface="微软雅黑"/>
              </a:defRPr>
            </a:pPr>
            <a:r>
              <a:t>Cosmos Policy 推理流水线详解 — RoboCasa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  <a:defRPr sz="800" b="0">
                <a:solidFill>
                  <a:srgbClr val="484F58"/>
                </a:solidFill>
                <a:latin typeface="Consolas"/>
              </a:defRPr>
            </a:pPr>
            <a:r>
              <a:t>10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24712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3FB950"/>
                </a:solidFill>
                <a:latin typeface="微软雅黑"/>
              </a:defRPr>
            </a:pPr>
            <a:r>
              <a:t>⬅ 输入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813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原始含噪隐变量 x_sigma: (B, 16, 21, 28, 28)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sigma 值: 标量或 (B,) 张量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DiT 网络原始输出 F_theta: (B, 16, 21, 28, 28)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0280"/>
            <a:ext cx="11247120" cy="146304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D2A8FF"/>
                </a:solidFill>
                <a:latin typeface="微软雅黑"/>
              </a:defRPr>
            </a:pPr>
            <a:r>
              <a:t>⚙ 原理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3288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EDM (Elucidating Design Space) 预处理稳定扩散训练。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数学公式: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  输入缩放:  c_in(sigma) = 1 / sqrt(sigma^2 + 1)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  输出缩放: c_out(sigma) = sigma / sqrt(sigma^2 + 1)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  跳跃缩放:   c_skip(sigma) = 1 (单位跳跃连接)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  噪声映射:  c_noise(sigma) = 0.25 * ln(sigma)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网络看到单位方差输入。输出组合跳跃连接 (保留信号)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与网络预测 (添加修正)。关键洞察: 当 sigma-&gt;0 时，c_out-&gt;0，输出自然逼近干净的 x_0。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663440"/>
            <a:ext cx="1124712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290" y="4775835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FF7B72"/>
                </a:solidFill>
                <a:latin typeface="微软雅黑"/>
              </a:defRPr>
            </a:pPr>
            <a:r>
              <a:t>➡ 输出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0551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DiT 预处理输入: c_in(sigma) * x_sigma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最终去噪估计: c_skip(sigma) * x_sigma + c_out(sigma) * F_theta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x_0 估计: (B, 16, 21, 28, 28)，干净观测帧不受影响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760720"/>
            <a:ext cx="11247120" cy="502920"/>
          </a:xfrm>
          <a:prstGeom prst="roundRect">
            <a:avLst/>
          </a:prstGeom>
          <a:solidFill>
            <a:srgbClr val="1A1E24"/>
          </a:solidFill>
          <a:ln w="635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Consolas"/>
              </a:defRPr>
            </a:pPr>
            <a:r>
              <a:t>CODE: cosmos_policy/models/policy_text2world_model.py:310 compute_loss_with_epsilon_and_sigma()  |  minimal_v4_dit.py:860 Timesteps  |  :884 TimestepEmbedding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6D4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0"/>
            <a:ext cx="12115800" cy="10058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2200" b="1">
                <a:solidFill>
                  <a:srgbClr val="F0F6FC"/>
                </a:solidFill>
                <a:latin typeface="微软雅黑"/>
              </a:defRPr>
            </a:pPr>
            <a:r>
              <a:t>模块 9: 迭代采样 (去噪循环)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200" b="0">
                <a:solidFill>
                  <a:srgbClr val="56D4DD"/>
                </a:solidFill>
                <a:latin typeface="Consolas"/>
              </a:defRPr>
            </a:pPr>
            <a:r>
              <a:t>Iterative Denoising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0">
                <a:solidFill>
                  <a:srgbClr val="484F58"/>
                </a:solidFill>
                <a:latin typeface="微软雅黑"/>
              </a:defRPr>
            </a:pPr>
            <a:r>
              <a:t>Cosmos Policy 推理流水线详解 — RoboCasa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  <a:defRPr sz="800" b="0">
                <a:solidFill>
                  <a:srgbClr val="484F58"/>
                </a:solidFill>
                <a:latin typeface="Consolas"/>
              </a:defRPr>
            </a:pPr>
            <a:r>
              <a:t>11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24712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3FB950"/>
                </a:solidFill>
                <a:latin typeface="微软雅黑"/>
              </a:defRPr>
            </a:pPr>
            <a:r>
              <a:t>⬅ 输入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813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纯噪声 x_T: (B, 16, 21, 28, 28)，sigma = sigma_max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仅 mask=0 的帧为噪声；mask=1 的帧为干净观测隐变量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num_steps: 去噪步数 (RoboCasa 通常35步)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0280"/>
            <a:ext cx="11247120" cy="146304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D2A8FF"/>
                </a:solidFill>
                <a:latin typeface="微软雅黑"/>
              </a:defRPr>
            </a:pPr>
            <a:r>
              <a:t>⚙ 原理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1965" y="2139823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从纯噪声迭代去噪到干净隐变量预测。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1. 将 mask=0 的帧初始化为 sigma_max 处的噪声 (mask=1 帧保持干净)。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2. 对每一步 t = T, T-1, ..., 1: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   a. 计算当前 sigma_t 和下一步 sigma_{t-1}。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   b. 通过去噪函数 (EDM + DiT) 获取 x_0 预测。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   c. 执行确定性 ODE 步: x_{t-1} = x_t + (sigma_{t-1} - sigma_t) * score。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   d. 特殊情况: num_steps=1 时直接使用 x_0 预测 (单步)。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3. 最终输出: 完全去噪的隐变量序列。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4. CosmosPolicySampler 支持 sample_clean=True 进行掩码感知采样。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1124712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88620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FF7B72"/>
                </a:solidFill>
                <a:latin typeface="微软雅黑"/>
              </a:defRPr>
            </a:pPr>
            <a:r>
              <a:t>➡ 输出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3308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去噪后 x_0: (B, 16, 21, 28, 28)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mask=0 的帧现在包含预测的动作/本体感知/未来隐变量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mask=1 的观测帧在整个采样过程中保持不变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92040"/>
            <a:ext cx="11247120" cy="54864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937759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FFA657"/>
                </a:solidFill>
                <a:latin typeface="微软雅黑"/>
              </a:defRPr>
            </a:pPr>
            <a:r>
              <a:t>调度策略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184648"/>
            <a:ext cx="1097280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Sigma 调度: 从 sigma_max (~80) 到 sigma_min (~0.002) 的几何级数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ODE 求解器: Euler 或 RK4。默认: Euler 35步 (RoboCasa 推理)。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760720"/>
            <a:ext cx="11247120" cy="502920"/>
          </a:xfrm>
          <a:prstGeom prst="roundRect">
            <a:avLst/>
          </a:prstGeom>
          <a:solidFill>
            <a:srgbClr val="1A1E24"/>
          </a:solidFill>
          <a:ln w="635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Consolas"/>
              </a:defRPr>
            </a:pPr>
            <a:r>
              <a:t>CODE: cosmos_policy/modules/cosmos_sampler.py:40 class CosmosPolicySampler  |  :96 _forward_impl()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0"/>
            <a:ext cx="12115800" cy="10058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2200" b="1">
                <a:solidFill>
                  <a:srgbClr val="F0F6FC"/>
                </a:solidFill>
                <a:latin typeface="微软雅黑"/>
              </a:defRPr>
            </a:pPr>
            <a:r>
              <a:t>模块 10: VAE 解码器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200" b="0">
                <a:solidFill>
                  <a:srgbClr val="3FB950"/>
                </a:solidFill>
                <a:latin typeface="Consolas"/>
              </a:defRPr>
            </a:pPr>
            <a:r>
              <a:t>WAN 2.1 VAE Decoder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0">
                <a:solidFill>
                  <a:srgbClr val="484F58"/>
                </a:solidFill>
                <a:latin typeface="微软雅黑"/>
              </a:defRPr>
            </a:pPr>
            <a:r>
              <a:t>Cosmos Policy 推理流水线详解 — RoboCasa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  <a:defRPr sz="800" b="0">
                <a:solidFill>
                  <a:srgbClr val="484F58"/>
                </a:solidFill>
                <a:latin typeface="Consolas"/>
              </a:defRPr>
            </a:pPr>
            <a:r>
              <a:t>12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24712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3FB950"/>
                </a:solidFill>
                <a:latin typeface="微软雅黑"/>
              </a:defRPr>
            </a:pPr>
            <a:r>
              <a:t>⬅ 输入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7970" y="1252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去噪后的隐变量序列: (B, 16, 21, 28, 28)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动作/本体感知/未来帧需要解码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实际操作: 可选解码，主要用于可视化验证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0280"/>
            <a:ext cx="11247120" cy="146304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D2A8FF"/>
                </a:solidFill>
                <a:latin typeface="微软雅黑"/>
              </a:defRPr>
            </a:pPr>
            <a:r>
              <a:t>⚙ 原理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20215" y="2139823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WAN 2.1 VAE 解码器从隐变量重建像素视频。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1. 时间上采样: T' -&gt; T'*4 (4倍时间压缩的逆过程)。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2. 空间上采样: 28 -&gt; 224 (8倍空间压缩的逆过程)。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3. 通道投影: 16 -&gt; 3 (隐变量 -&gt; RGB)。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4. 使用3D转置卷积实现时空上采样。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重要提示: 动作提取时不需要解码为像素。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动作直接从隐帧中读取 (下一个模块)。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VAE 解码是可选的，主要用于调试/可视化。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1124712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88620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FF7B72"/>
                </a:solidFill>
                <a:latin typeface="微软雅黑"/>
              </a:defRPr>
            </a:pPr>
            <a:r>
              <a:t>➡ 输出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2105" y="38765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解码后像素空间视频: (B, 3, T'*4, H*8, W*8)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每个动作帧: (B, 3, 32, 224, 224) -- 但不用于动作提取！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动作值直接从隐变量提取，不需要解码为像素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VAE 解码仅用于可视化/调试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92040"/>
            <a:ext cx="11247120" cy="54864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895214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FF7B72"/>
                </a:solidFill>
                <a:latin typeface="微软雅黑"/>
              </a:defRPr>
            </a:pPr>
            <a:r>
              <a:t>关键洞察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025" y="5029073"/>
            <a:ext cx="1097280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动作存在于隐空间，而非像素空间。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'伪视频帧'技巧意味着动作以隐变量值存储，不需要渲染为像素。解码对机器人控制并非必要。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760720"/>
            <a:ext cx="11247120" cy="502920"/>
          </a:xfrm>
          <a:prstGeom prst="roundRect">
            <a:avLst/>
          </a:prstGeom>
          <a:solidFill>
            <a:srgbClr val="1A1E24"/>
          </a:solidFill>
          <a:ln w="635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Consolas"/>
              </a:defRPr>
            </a:pPr>
            <a:r>
              <a:t>CODE: cosmos_policy/tokenizers/wan2pt1.py:341 decode()  |  :197 class CosmosPolicyWanVAE  |  :518 decode()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0"/>
            <a:ext cx="12115800" cy="10058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2200" b="1">
                <a:solidFill>
                  <a:srgbClr val="F0F6FC"/>
                </a:solidFill>
                <a:latin typeface="微软雅黑"/>
              </a:defRPr>
            </a:pPr>
            <a:r>
              <a:t>模块 11: 动作提取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200" b="0">
                <a:solidFill>
                  <a:srgbClr val="FF7B72"/>
                </a:solidFill>
                <a:latin typeface="Consolas"/>
              </a:defRPr>
            </a:pPr>
            <a:r>
              <a:t>Action Extraction from Latent Frames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0">
                <a:solidFill>
                  <a:srgbClr val="484F58"/>
                </a:solidFill>
                <a:latin typeface="微软雅黑"/>
              </a:defRPr>
            </a:pPr>
            <a:r>
              <a:t>Cosmos Policy 推理流水线详解 — RoboCasa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  <a:defRPr sz="800" b="0">
                <a:solidFill>
                  <a:srgbClr val="484F58"/>
                </a:solidFill>
                <a:latin typeface="Consolas"/>
              </a:defRPr>
            </a:pPr>
            <a:r>
              <a:t>13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24712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3FB950"/>
                </a:solidFill>
                <a:latin typeface="微软雅黑"/>
              </a:defRPr>
            </a:pPr>
            <a:r>
              <a:t>⬅ 输入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813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去噪后的隐变量序列: (B, 16, 21, 28, 28)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动作隐帧位于索引 7-14 (RoboCasa 共8帧)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每帧: 16 * 28 * 28 = 12,544 个值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0280"/>
            <a:ext cx="11247120" cy="146304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D2A8FF"/>
                </a:solidFill>
                <a:latin typeface="微软雅黑"/>
              </a:defRPr>
            </a:pPr>
            <a:r>
              <a:t>⚙ 原理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45893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逆向隐变量注入过程，恢复动作值。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1. 按索引选择动作隐帧。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2. 对每个动作帧: 展平 (16, 28, 28) -&gt; 12,544 个值。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3. 每帧取前28个值 (224总值 / 8帧 = 28)。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4. 重塑为 (chunk_size=32, action_dim=7)。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5. 反归一化: 乘以 action_std，加上 action_mean。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6. 裁剪到有效机器人指令范围。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这是 replace_latent_with_action_chunk() 的逆过程。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1124712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88620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FF7B72"/>
                </a:solidFill>
                <a:latin typeface="微软雅黑"/>
              </a:defRPr>
            </a:pPr>
            <a:r>
              <a:t>➡ 输出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3308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动作块: (B, chunk_size=32, action_dim=7)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- 32个动作步，每个7自由度 (x,y,z,rx,ry,rz,gripper)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从8个隐帧中提取224个值 (每帧28个值)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值经过反归一化到机器人指令范围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760720"/>
            <a:ext cx="11247120" cy="502920"/>
          </a:xfrm>
          <a:prstGeom prst="roundRect">
            <a:avLst/>
          </a:prstGeom>
          <a:solidFill>
            <a:srgbClr val="1A1E24"/>
          </a:solidFill>
          <a:ln w="635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Consolas"/>
              </a:defRPr>
            </a:pPr>
            <a:r>
              <a:t>CODE: cosmos_policy/models/policy_text2world_model.py:45 replace_latent_with_action_chunk()  |  cosmos_utils.py:851 get_action()  |  :61 get_latent_indices_from_model_config()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0"/>
            <a:ext cx="12115800" cy="10058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2200" b="1">
                <a:solidFill>
                  <a:srgbClr val="F0F6FC"/>
                </a:solidFill>
                <a:latin typeface="微软雅黑"/>
              </a:defRPr>
            </a:pPr>
            <a:r>
              <a:t>模块 12: 本体感知提取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200" b="0">
                <a:solidFill>
                  <a:srgbClr val="D2A8FF"/>
                </a:solidFill>
                <a:latin typeface="Consolas"/>
              </a:defRPr>
            </a:pPr>
            <a:r>
              <a:t>Proprioceptive State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0">
                <a:solidFill>
                  <a:srgbClr val="484F58"/>
                </a:solidFill>
                <a:latin typeface="微软雅黑"/>
              </a:defRPr>
            </a:pPr>
            <a:r>
              <a:t>Cosmos Policy 推理流水线详解 — RoboCasa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  <a:defRPr sz="800" b="0">
                <a:solidFill>
                  <a:srgbClr val="484F58"/>
                </a:solidFill>
                <a:latin typeface="Consolas"/>
              </a:defRPr>
            </a:pPr>
            <a:r>
              <a:t>14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24712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3FB950"/>
                </a:solidFill>
                <a:latin typeface="微软雅黑"/>
              </a:defRPr>
            </a:pPr>
            <a:r>
              <a:t>⬅ 输入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813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去噪后的隐变量序列: (B, 16, 21, 28, 28)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本体感知隐帧位于索引 15-16 (RoboCasa 共2帧)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每帧: 12,544 个值，但仅使用前约5个值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0280"/>
            <a:ext cx="11247120" cy="146304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D2A8FF"/>
                </a:solidFill>
                <a:latin typeface="微软雅黑"/>
              </a:defRPr>
            </a:pPr>
            <a:r>
              <a:t>⚙ 原理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38325" y="222427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从隐帧中提取本体感知预测 (与动作提取方法相同)。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1. 按索引选择本体感知隐帧。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2. 展平每帧，取前约5个值/帧。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3. 重塑为 proprio_dim=9。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4. 反归一化到物理关节/夹爪范围。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5. 模型作为去噪的副产物预测未来本体感知。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注意: 本体感知预测是辅助输出 -- 主要输出是动作块。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但它帮助模型保持时间一致性。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11247120" cy="119253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88620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FF7B72"/>
                </a:solidFill>
                <a:latin typeface="微软雅黑"/>
              </a:defRPr>
            </a:pPr>
            <a:r>
              <a:t>➡ 输出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3308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预测的本体感知: (B, 2, proprio_dim=9) 或 (B, 9)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预测的未来本体感知状态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可用于规划或状态预测验证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- 9个值: 7个关节位置 + 2个夹爪状态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760720"/>
            <a:ext cx="11247120" cy="502920"/>
          </a:xfrm>
          <a:prstGeom prst="roundRect">
            <a:avLst/>
          </a:prstGeom>
          <a:solidFill>
            <a:srgbClr val="1A1E24"/>
          </a:solidFill>
          <a:ln w="635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Consolas"/>
              </a:defRPr>
            </a:pPr>
            <a:r>
              <a:t>CODE: cosmos_policy/models/policy_text2world_model.py:112 replace_latent_with_proprio()  |  cosmos_utils.py:61 get_latent_indices_from_model_config()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0"/>
            <a:ext cx="12115800" cy="10058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2200" b="1">
                <a:solidFill>
                  <a:srgbClr val="F0F6FC"/>
                </a:solidFill>
                <a:latin typeface="微软雅黑"/>
              </a:defRPr>
            </a:pPr>
            <a:r>
              <a:t>模块 13: 机器人执行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200" b="0">
                <a:solidFill>
                  <a:srgbClr val="FFA657"/>
                </a:solidFill>
                <a:latin typeface="Consolas"/>
              </a:defRPr>
            </a:pPr>
            <a:r>
              <a:t>Robot Action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0">
                <a:solidFill>
                  <a:srgbClr val="484F58"/>
                </a:solidFill>
                <a:latin typeface="微软雅黑"/>
              </a:defRPr>
            </a:pPr>
            <a:r>
              <a:t>Cosmos Policy 推理流水线详解 — RoboCasa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  <a:defRPr sz="800" b="0">
                <a:solidFill>
                  <a:srgbClr val="484F58"/>
                </a:solidFill>
                <a:latin typeface="Consolas"/>
              </a:defRPr>
            </a:pPr>
            <a:r>
              <a:t>15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24712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3FB950"/>
                </a:solidFill>
                <a:latin typeface="微软雅黑"/>
              </a:defRPr>
            </a:pPr>
            <a:r>
              <a:t>⬅ 输入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9720" y="116128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动作块: (B, 32, 7) -- 32个动作步，每步7自由度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- 7自由度机械臂的绝对关节位置 + 夹爪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已反归一化到机器人关节指令范围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以开环方式预测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0280"/>
            <a:ext cx="11247120" cy="146304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D2A8FF"/>
                </a:solidFill>
                <a:latin typeface="微软雅黑"/>
              </a:defRPr>
            </a:pPr>
            <a:r>
              <a:t>⚙ 原理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3288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将预测的动作块转换为机器人关节指令。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1. 动作空间: 绝对关节位置 (非增量动作)。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2. 反归一化: action_raw * action_std + action_mean。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3. 裁剪到关节限位。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4. 以控制频率发送给底层 PD 控制器。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5. 夹爪指令: 连续值映射到开/合。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动作块提供32步未来控制，但仅执行其中一部分 (见开环控制页)。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74820"/>
            <a:ext cx="1124712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233545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FF7B72"/>
                </a:solidFill>
                <a:latin typeface="微软雅黑"/>
              </a:defRPr>
            </a:pPr>
            <a:r>
              <a:t>➡ 输出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5623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发送给机器人控制器的关节指令: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每个时间步的7自由度关节位置目标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以控制频率执行 (如20Hz)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仅执行前 execute_steps 个动作后重新规划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760720"/>
            <a:ext cx="11247120" cy="502920"/>
          </a:xfrm>
          <a:prstGeom prst="roundRect">
            <a:avLst/>
          </a:prstGeom>
          <a:solidFill>
            <a:srgbClr val="1A1E24"/>
          </a:solidFill>
          <a:ln w="635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Consolas"/>
              </a:defRPr>
            </a:pPr>
            <a:r>
              <a:t>CODE: cosmos_policy/experiments/robot/cosmos_utils.py:851 get_action()  |  RoboCasa 环境封装器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0"/>
            <a:ext cx="12115800" cy="10058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2200" b="1">
                <a:solidFill>
                  <a:srgbClr val="F0F6FC"/>
                </a:solidFill>
                <a:latin typeface="微软雅黑"/>
              </a:defRPr>
            </a:pPr>
            <a:r>
              <a:t>模块 14: 开环控制策略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200" b="0">
                <a:solidFill>
                  <a:srgbClr val="58A6FF"/>
                </a:solidFill>
                <a:latin typeface="Consolas"/>
              </a:defRPr>
            </a:pPr>
            <a:r>
              <a:t>Open-Loop Control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0">
                <a:solidFill>
                  <a:srgbClr val="484F58"/>
                </a:solidFill>
                <a:latin typeface="微软雅黑"/>
              </a:defRPr>
            </a:pPr>
            <a:r>
              <a:t>Cosmos Policy 推理流水线详解 — RoboCasa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  <a:defRPr sz="800" b="0">
                <a:solidFill>
                  <a:srgbClr val="484F58"/>
                </a:solidFill>
                <a:latin typeface="Consolas"/>
              </a:defRPr>
            </a:pPr>
            <a:r>
              <a:t>16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24712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3FB950"/>
                </a:solidFill>
                <a:latin typeface="微软雅黑"/>
              </a:defRPr>
            </a:pPr>
            <a:r>
              <a:t>⬅ 输入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813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预测的动作块: (32, 7) -- 完整轨迹预测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一次前向传播预测32步未来控制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仅执行其中一部分后重新查询模型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0280"/>
            <a:ext cx="11247120" cy="146304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D2A8FF"/>
                </a:solidFill>
                <a:latin typeface="微软雅黑"/>
              </a:defRPr>
            </a:pPr>
            <a:r>
              <a:t>⚙ 原理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0375" y="2116963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时间动作分块与部分执行策略。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1. 模型在一次前向传播中预测 chunk_size=32 步未来动作。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2. 仅实际执行前 execute_steps 步 (如4或8步)。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3. 执行后采集新观测。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4. 用更新后的观测历史重新查询模型。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5. 优势: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   - 降低推理频率 (每4-8步推理一次，而非每步)。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   - 块内提供时间一致性。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   - 每次重查询允许纠偏。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   - 权衡: execute_steps 越多 = 速度越快但反应性越差。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33215"/>
            <a:ext cx="1124712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88620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FF7B72"/>
                </a:solidFill>
                <a:latin typeface="微软雅黑"/>
              </a:defRPr>
            </a:pPr>
            <a:r>
              <a:t>➡ 输出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3308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实际执行的动作: (execute_steps, 7) -- 通常4-8步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执行动作块中前 execute_steps 个动作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然后采集新观测，重新查询模型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块中剩余动作被丢弃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184775"/>
            <a:ext cx="11247120" cy="54864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937759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FFA657"/>
                </a:solidFill>
                <a:latin typeface="微软雅黑"/>
              </a:defRPr>
            </a:pPr>
            <a:r>
              <a:t>权衡分析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184648"/>
            <a:ext cx="1097280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execute_steps=4: 反应更灵敏，推理成本更高，纠偏更平滑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execute_steps=8: 反应较慢，推理成本更低，更坚持原计划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RoboCasa 默认: 通常4-8步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25185"/>
            <a:ext cx="11247120" cy="502920"/>
          </a:xfrm>
          <a:prstGeom prst="roundRect">
            <a:avLst/>
          </a:prstGeom>
          <a:solidFill>
            <a:srgbClr val="1A1E24"/>
          </a:solidFill>
          <a:ln w="635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99821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Consolas"/>
              </a:defRPr>
            </a:pPr>
            <a:r>
              <a:t>CODE: cosmos_policy/experiments/robot/cosmos_utils.py:851 get_action()  |  实验配置: execute_steps 参数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0"/>
            <a:ext cx="12115800" cy="10058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2200" b="1">
                <a:solidFill>
                  <a:srgbClr val="F0F6FC"/>
                </a:solidFill>
                <a:latin typeface="微软雅黑"/>
              </a:defRPr>
            </a:pPr>
            <a:r>
              <a:t>模块 15: Best-of-N 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200" b="0">
                <a:solidFill>
                  <a:srgbClr val="FF6EC7"/>
                </a:solidFill>
                <a:latin typeface="Consolas"/>
              </a:defRPr>
            </a:pPr>
            <a:r>
              <a:t>Best-of-N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0">
                <a:solidFill>
                  <a:srgbClr val="484F58"/>
                </a:solidFill>
                <a:latin typeface="微软雅黑"/>
              </a:defRPr>
            </a:pPr>
            <a:r>
              <a:t>Cosmos Policy 推理流水线详解 — RoboCasa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  <a:defRPr sz="800" b="0">
                <a:solidFill>
                  <a:srgbClr val="484F58"/>
                </a:solidFill>
                <a:latin typeface="Consolas"/>
              </a:defRPr>
            </a:pPr>
            <a:r>
              <a:t>17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24712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3FB950"/>
                </a:solidFill>
                <a:latin typeface="微软雅黑"/>
              </a:defRPr>
            </a:pPr>
            <a:r>
              <a:t>⬅ 输入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1450" y="12451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N个候选动作块: N x (32, 7)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通过运行N次独立去噪过程生成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每次从不同随机噪声开始 -&gt; 不同的动作提议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通常 N=4 或 N=8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0280"/>
            <a:ext cx="11247120" cy="146304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D2A8FF"/>
                </a:solidFill>
                <a:latin typeface="微软雅黑"/>
              </a:defRPr>
            </a:pPr>
            <a:r>
              <a:t>⚙ 原理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20215" y="2194433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生成多个动作候选，按预测价值排序选择。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1. 独立运行N次去噪 (不同噪声种子)。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2. 对每个候选: 使用价值头预测其期望回报。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3. 选择具有最高预测价值的候选。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4. 这是一种简单但有效的测试时计算扩展方法。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5. 候选越多 = 选择越好，但推理时间越长。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6. 类似语言模型中的采样-排序策略。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这是规划变体。对于直接策略 (无规划)，N=1。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1124712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88620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FF7B72"/>
                </a:solidFill>
                <a:latin typeface="微软雅黑"/>
              </a:defRPr>
            </a:pPr>
            <a:r>
              <a:t>➡ 输出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20215" y="390829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最优动作块: (32, 7)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基于价值预测从N个候选中选择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选择具有最高预测价值的候选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其余 N-1 个候选被丢弃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92040"/>
            <a:ext cx="11247120" cy="54864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937759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FF7B72"/>
                </a:solidFill>
                <a:latin typeface="微软雅黑"/>
              </a:defRPr>
            </a:pPr>
            <a:r>
              <a:t>价值头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025" y="4991608"/>
            <a:ext cx="1097280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模型还预测一个价值隐帧 (1个标量)。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该价值预测给定动作序列的期望回报。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用作 Best-of-N 选择的评分函数。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760720"/>
            <a:ext cx="11247120" cy="502920"/>
          </a:xfrm>
          <a:prstGeom prst="roundRect">
            <a:avLst/>
          </a:prstGeom>
          <a:solidFill>
            <a:srgbClr val="1A1E24"/>
          </a:solidFill>
          <a:ln w="635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Consolas"/>
              </a:defRPr>
            </a:pPr>
            <a:r>
              <a:t>CODE: cosmos_policy/models/policy_video2world_model.py:569 get_x0_fn_from_batch()  |  cosmos_utils.py:851 get_action()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0"/>
            <a:ext cx="12115800" cy="10058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2200" b="1">
                <a:solidFill>
                  <a:srgbClr val="F0F6FC"/>
                </a:solidFill>
                <a:latin typeface="微软雅黑"/>
              </a:defRPr>
            </a:pPr>
            <a:r>
              <a:t>模块 16: 价值预测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200" b="0">
                <a:solidFill>
                  <a:srgbClr val="FF7B72"/>
                </a:solidFill>
                <a:latin typeface="Consolas"/>
              </a:defRPr>
            </a:pPr>
            <a:r>
              <a:t>Value Function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0">
                <a:solidFill>
                  <a:srgbClr val="484F58"/>
                </a:solidFill>
                <a:latin typeface="微软雅黑"/>
              </a:defRPr>
            </a:pPr>
            <a:r>
              <a:t>Cosmos Policy 推理流水线详解 — RoboCasa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  <a:defRPr sz="800" b="0">
                <a:solidFill>
                  <a:srgbClr val="484F58"/>
                </a:solidFill>
                <a:latin typeface="Consolas"/>
              </a:defRPr>
            </a:pPr>
            <a:r>
              <a:t>18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24712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3FB950"/>
                </a:solidFill>
                <a:latin typeface="微软雅黑"/>
              </a:defRPr>
            </a:pPr>
            <a:r>
              <a:t>⬅ 输入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813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去噪后的隐变量序列: (B, 16, 21, 28, 28)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在特定索引处包含一个价值隐帧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价值以标量形式编码在一个隐帧中 (类似动作/本体感知)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0280"/>
            <a:ext cx="11247120" cy="146304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D2A8FF"/>
                </a:solidFill>
                <a:latin typeface="微软雅黑"/>
              </a:defRPr>
            </a:pPr>
            <a:r>
              <a:t>⚙ 原理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2900" y="2307463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预测所提议动作轨迹的期望回报。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1. 专用隐帧存储价值预测。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2. 价值的编码方式与动作类似: 标量重复填充到隐帧中。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3. 去噪后，提取价值 (注入的逆过程)。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4. 训练时: value_loss 与 action_loss 分开掩码处理。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5. 可通过 mask_value_prediction_loss_for_policy_prediction 禁用。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6. 价值预测无需单独的 Critic 网络即可实现规划。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1124712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88620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FF7B72"/>
                </a:solidFill>
                <a:latin typeface="微软雅黑"/>
              </a:defRPr>
            </a:pPr>
            <a:r>
              <a:t>➡ 输出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2900" y="391337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预测价值: 标量 (B, 1)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预测动作轨迹的期望回报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用于 Best-of-N 规划中的排序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价值越高 = 预测结果越好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760720"/>
            <a:ext cx="11247120" cy="502920"/>
          </a:xfrm>
          <a:prstGeom prst="roundRect">
            <a:avLst/>
          </a:prstGeom>
          <a:solidFill>
            <a:srgbClr val="1A1E24"/>
          </a:solidFill>
          <a:ln w="635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Consolas"/>
              </a:defRPr>
            </a:pPr>
            <a:r>
              <a:t>CODE: cosmos_policy/models/policy_text2world_model.py:186-210 (价值配置字段)  |  :328 (value_function_return)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6D4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0"/>
            <a:ext cx="12115800" cy="10058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2200" b="1">
                <a:solidFill>
                  <a:srgbClr val="F0F6FC"/>
                </a:solidFill>
                <a:latin typeface="微软雅黑"/>
              </a:defRPr>
            </a:pPr>
            <a:r>
              <a:t>模块 17: 多视角融合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200" b="0">
                <a:solidFill>
                  <a:srgbClr val="56D4DD"/>
                </a:solidFill>
                <a:latin typeface="Consolas"/>
              </a:defRPr>
            </a:pPr>
            <a:r>
              <a:t>Multi-View Camera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0">
                <a:solidFill>
                  <a:srgbClr val="484F58"/>
                </a:solidFill>
                <a:latin typeface="微软雅黑"/>
              </a:defRPr>
            </a:pPr>
            <a:r>
              <a:t>Cosmos Policy 推理流水线详解 — RoboCasa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  <a:defRPr sz="800" b="0">
                <a:solidFill>
                  <a:srgbClr val="484F58"/>
                </a:solidFill>
                <a:latin typeface="Consolas"/>
              </a:defRPr>
            </a:pPr>
            <a:r>
              <a:t>19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24712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3FB950"/>
                </a:solidFill>
                <a:latin typeface="微软雅黑"/>
              </a:defRPr>
            </a:pPr>
            <a:r>
              <a:t>⬅ 输入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7970" y="121335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3路独立相机流，各自独立编码：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agentview (俯视/正面): (B, 16, 3, 28, 28)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eye_in_hand (腕部): (B, 16, 2, 28, 28)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robotface (侧面): (B, 16, 2, 28, 28)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每路捕获场景的不同空间信息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0280"/>
            <a:ext cx="11247120" cy="146304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D2A8FF"/>
                </a:solidFill>
                <a:latin typeface="微软雅黑"/>
              </a:defRPr>
            </a:pPr>
            <a:r>
              <a:t>⚙ 原理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4650" y="2194433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将多个相机视角融合到单一隐变量序列中。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1. 每个相机视角独立进行 VAE 编码。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2. 所有相机隐变量沿时间轴拼接。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3. DiT 的 3D RoPE 位置编码区分: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   - 每个视角内的空间位置 (28x28 网格)。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   - 帧间的时间位置。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   - 无需显式视角ID -- 位置编码即可区分。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4. 跨所有帧 token 的自注意力实现跨视角推理。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5. 模型学习跨相机角度关联信息。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11247120" cy="91440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88620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FF7B72"/>
                </a:solidFill>
                <a:latin typeface="微软雅黑"/>
              </a:defRPr>
            </a:pPr>
            <a:r>
              <a:t>➡ 输出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4650" y="3877183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统一隐变量序列: (B, 16, 7+, 28, 28)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所有相机隐变量沿时间维度拼接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位置: 帧 0-2 (cam1), 帧 3-4 (cam2), 帧 5-6 (cam3)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之后是动作/本体感知/未来帧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  - 3D RoPE 位置编码区分每个视角的位置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92040"/>
            <a:ext cx="11247120" cy="59436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937759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D2A8FF"/>
                </a:solidFill>
                <a:latin typeface="微软雅黑"/>
              </a:defRPr>
            </a:pPr>
            <a:r>
              <a:t>RoboCasa 视角说明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870" y="490651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agentview: 工作区俯视/正面视图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eye_in_hand: 安装在机械臂末端的腕部相机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robotface: 捕获机械臂构型的侧视图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>
                <a:solidFill>
                  <a:srgbClr val="F0F6FC"/>
                </a:solidFill>
                <a:latin typeface="微软雅黑"/>
              </a:defRPr>
            </a:pPr>
            <a:r>
              <a:t>不同时间长度因4倍时间压缩的帧填充导致。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760720"/>
            <a:ext cx="11247120" cy="502920"/>
          </a:xfrm>
          <a:prstGeom prst="roundRect">
            <a:avLst/>
          </a:prstGeom>
          <a:solidFill>
            <a:srgbClr val="1A1E24"/>
          </a:solidFill>
          <a:ln w="635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Consolas"/>
              </a:defRPr>
            </a:pPr>
            <a:r>
              <a:t>CODE: cosmos_policy/experiments/robot/cosmos_utils.py:61 get_latent_indices_from_model_config()  |  tokenizers/wan2pt1.py:303 encode()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0"/>
            <a:ext cx="12115800" cy="10058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2200" b="1">
                <a:solidFill>
                  <a:srgbClr val="F0F6FC"/>
                </a:solidFill>
                <a:latin typeface="微软雅黑"/>
              </a:defRPr>
            </a:pPr>
            <a:r>
              <a:t>模块 18: 训练 vs 推理对比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200" b="0">
                <a:solidFill>
                  <a:srgbClr val="D2A8FF"/>
                </a:solidFill>
                <a:latin typeface="Consolas"/>
              </a:defRPr>
            </a:pPr>
            <a:r>
              <a:t>Training vs Inference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0">
                <a:solidFill>
                  <a:srgbClr val="484F58"/>
                </a:solidFill>
                <a:latin typeface="微软雅黑"/>
              </a:defRPr>
            </a:pPr>
            <a:r>
              <a:t>Cosmos Policy 推理流水线详解 — RoboCasa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  <a:defRPr sz="800" b="0">
                <a:solidFill>
                  <a:srgbClr val="484F58"/>
                </a:solidFill>
                <a:latin typeface="Consolas"/>
              </a:defRPr>
            </a:pPr>
            <a:r>
              <a:t>20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5669280" cy="3657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188720"/>
            <a:ext cx="5669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200" b="1">
                <a:solidFill>
                  <a:srgbClr val="F0F6FC"/>
                </a:solidFill>
                <a:latin typeface="微软雅黑"/>
              </a:defRPr>
            </a:pPr>
            <a:r>
              <a:t>训练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微软雅黑"/>
              </a:defRPr>
            </a:pPr>
            <a:r>
              <a:t>1. 从专家演示中收集 (obs, action, proprio, value)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微软雅黑"/>
              </a:defRPr>
            </a:pPr>
            <a:r>
              <a:t>2. VAE 编码所有观测 -&gt; 隐变量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2316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微软雅黑"/>
              </a:defRPr>
            </a:pPr>
            <a:r>
              <a:t>3. 将真实动作/本体感知注入隐帧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8892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微软雅黑"/>
              </a:defRPr>
            </a:pPr>
            <a:r>
              <a:t>4. 创建条件掩码: obs=1, action/proprio=0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5468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微软雅黑"/>
              </a:defRPr>
            </a:pPr>
            <a:r>
              <a:t>5. 对 mask=0 帧添加噪声: x_sigma = x_0 + sigma * 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2044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微软雅黑"/>
              </a:defRPr>
            </a:pPr>
            <a:r>
              <a:t>6. DiT 从含噪输入预测噪声 (或 x_0)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8620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微软雅黑"/>
              </a:defRPr>
            </a:pPr>
            <a:r>
              <a:t>7. 损失 = MSE(预测, 目标)，仅在 mask=0 帧上计算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5196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微软雅黑"/>
              </a:defRPr>
            </a:pPr>
            <a:r>
              <a:t>8. 混合 EDM: 70% 对数正态 + 30% 均匀 sigma 采样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188720"/>
            <a:ext cx="5669280" cy="36576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188720"/>
            <a:ext cx="5669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200" b="1">
                <a:solidFill>
                  <a:srgbClr val="F0F6FC"/>
                </a:solidFill>
                <a:latin typeface="微软雅黑"/>
              </a:defRPr>
            </a:pPr>
            <a:r>
              <a:t>推理 INFERENCE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69164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微软雅黑"/>
              </a:defRPr>
            </a:pPr>
            <a:r>
              <a:t>1. 从机器人传感器采集当前观测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05740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微软雅黑"/>
              </a:defRPr>
            </a:pPr>
            <a:r>
              <a:t>2. VAE 编码观测 -&gt; 干净隐变量 (mask=1)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42316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微软雅黑"/>
              </a:defRPr>
            </a:pPr>
            <a:r>
              <a:t>3. 初始化动作/本体感知帧为噪声 (mask=0)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78892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微软雅黑"/>
              </a:defRPr>
            </a:pPr>
            <a:r>
              <a:t>4. 迭代去噪循环 (35步 ODE 求解器)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15468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微软雅黑"/>
              </a:defRPr>
            </a:pPr>
            <a:r>
              <a:t>5. 每一步: DiT 从含噪输入预测 x_0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52044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微软雅黑"/>
              </a:defRPr>
            </a:pPr>
            <a:r>
              <a:t>6. ODE 步将噪声向干净预测方向更新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88620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微软雅黑"/>
              </a:defRPr>
            </a:pPr>
            <a:r>
              <a:t>7. 最终去噪隐变量包含预测的动作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25196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微软雅黑"/>
              </a:defRPr>
            </a:pPr>
            <a:r>
              <a:t>8. 提取动作块，执行前 N 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46320"/>
            <a:ext cx="11247120" cy="109728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89204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800" b="1">
                <a:solidFill>
                  <a:srgbClr val="58A6FF"/>
                </a:solidFill>
                <a:latin typeface="微软雅黑"/>
              </a:defRPr>
            </a:pPr>
            <a:r>
              <a:t>核心区别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074793"/>
            <a:ext cx="109728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训练: 真实动作被注入隐帧 -&gt; 模型学习去噪还原它们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推理: 动作帧从纯噪声开始 -&gt; 模型通过迭代去噪生成它们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训练损失: 仅在 mask=0 帧上计算 MSE，支持动作/价值分离的可选损失掩码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>
                <a:solidFill>
                  <a:srgbClr val="F0F6FC"/>
                </a:solidFill>
                <a:latin typeface="微软雅黑"/>
              </a:defRPr>
            </a:pPr>
            <a:r>
              <a:t>推理: 无需真实标签，纯生成式预测，从观测到动作的完整闭环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6126480"/>
            <a:ext cx="11247120" cy="502920"/>
          </a:xfrm>
          <a:prstGeom prst="roundRect">
            <a:avLst/>
          </a:prstGeom>
          <a:solidFill>
            <a:srgbClr val="1A1E24"/>
          </a:solidFill>
          <a:ln w="635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612648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900" b="0">
                <a:solidFill>
                  <a:srgbClr val="F0F6FC"/>
                </a:solidFill>
                <a:latin typeface="Consolas"/>
              </a:defRPr>
            </a:pPr>
            <a:r>
              <a:t>CODE: cosmos_policy/models/policy_text2world_model.py:310 compute_loss_with_epsilon_and_sigma()  |  :702 generate_samples_from_batch()  |  cosmos_policy/modules/cosmos_sampler.py:96 _forward_impl()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4.14,&quot;left&quot;:46.8,&quot;top&quot;:74.5,&quot;width&quot;:864}"/>
</p:tagLst>
</file>

<file path=ppt/tags/tag2.xml><?xml version="1.0" encoding="utf-8"?>
<p:tagLst xmlns:p="http://schemas.openxmlformats.org/presentationml/2006/main">
  <p:tag name="KSO_WM_DIAGRAM_VIRTUALLY_FRAME" val="{&quot;height&quot;:294.14,&quot;left&quot;:46.8,&quot;top&quot;:74.5,&quot;width&quot;:864}"/>
</p:tagLst>
</file>

<file path=ppt/tags/tag3.xml><?xml version="1.0" encoding="utf-8"?>
<p:tagLst xmlns:p="http://schemas.openxmlformats.org/presentationml/2006/main">
  <p:tag name="KSO_WM_DIAGRAM_VIRTUALLY_FRAME" val="{&quot;height&quot;:294.14,&quot;left&quot;:46.8,&quot;top&quot;:74.5,&quot;width&quot;:864}"/>
</p:tagLst>
</file>

<file path=ppt/tags/tag4.xml><?xml version="1.0" encoding="utf-8"?>
<p:tagLst xmlns:p="http://schemas.openxmlformats.org/presentationml/2006/main">
  <p:tag name="KSO_WM_DIAGRAM_VIRTUALLY_FRAME" val="{&quot;height&quot;:294.14,&quot;left&quot;:46.8,&quot;top&quot;:74.5,&quot;width&quot;:864}"/>
</p:tagLst>
</file>

<file path=ppt/tags/tag5.xml><?xml version="1.0" encoding="utf-8"?>
<p:tagLst xmlns:p="http://schemas.openxmlformats.org/presentationml/2006/main">
  <p:tag name="KSO_WM_DIAGRAM_VIRTUALLY_FRAME" val="{&quot;height&quot;:294.14,&quot;left&quot;:46.8,&quot;top&quot;:74.5,&quot;width&quot;:864}"/>
</p:tagLst>
</file>

<file path=ppt/tags/tag6.xml><?xml version="1.0" encoding="utf-8"?>
<p:tagLst xmlns:p="http://schemas.openxmlformats.org/presentationml/2006/main">
  <p:tag name="KSO_WM_DIAGRAM_VIRTUALLY_FRAME" val="{&quot;height&quot;:294.14,&quot;left&quot;:46.8,&quot;top&quot;:74.5,&quot;width&quot;:86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14429</Words>
  <Application>WPS 演示</Application>
  <PresentationFormat>On-screen Show (4:3)</PresentationFormat>
  <Paragraphs>835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40" baseType="lpstr">
      <vt:lpstr>Arial</vt:lpstr>
      <vt:lpstr>宋体</vt:lpstr>
      <vt:lpstr>Wingdings</vt:lpstr>
      <vt:lpstr>Arial</vt:lpstr>
      <vt:lpstr>Segoe UI</vt:lpstr>
      <vt:lpstr>苹方-简</vt:lpstr>
      <vt:lpstr>微软雅黑</vt:lpstr>
      <vt:lpstr>Consolas</vt:lpstr>
      <vt:lpstr>汉仪旗黑</vt:lpstr>
      <vt:lpstr>Calibri</vt:lpstr>
      <vt:lpstr>Helvetica Neue</vt:lpstr>
      <vt:lpstr>宋体</vt:lpstr>
      <vt:lpstr>汉仪书宋二KW</vt:lpstr>
      <vt:lpstr>微软雅黑</vt:lpstr>
      <vt:lpstr>Arial Unicode MS</vt:lpstr>
      <vt:lpstr>Consolas</vt:lpstr>
      <vt:lpstr>Segoe UI</vt:lpstr>
      <vt:lpstr>微软雅黑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NeverFade</cp:lastModifiedBy>
  <cp:revision>2</cp:revision>
  <dcterms:created xsi:type="dcterms:W3CDTF">2026-04-14T06:11:31Z</dcterms:created>
  <dcterms:modified xsi:type="dcterms:W3CDTF">2026-04-14T06:11:31Z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FF21233759E5967F93DADD69F13945BE_42</vt:lpwstr>
  </property>
</Properties>
</file>